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Noto Serif Thin"/>
      <p:regular r:id="rId201314"/>
    </p:embeddedFont>
    <p:embeddedFont>
      <p:font typeface="Noto Serif ExtraLight"/>
      <p:regular r:id="rId201315"/>
    </p:embeddedFont>
    <p:embeddedFont>
      <p:font typeface="Noto Serif ExtraBold"/>
      <p:regular r:id="rId201316"/>
    </p:embeddedFont>
    <p:embeddedFont>
      <p:font typeface="Noto Serif Black"/>
      <p:regular r:id="rId201317"/>
    </p:embeddedFont>
    <p:embeddedFont>
      <p:font typeface="Noto Serif Light"/>
      <p:regular r:id="rId201318"/>
    </p:embeddedFont>
    <p:embeddedFont>
      <p:font typeface="Noto Serif"/>
      <p:regular r:id="rId201319"/>
    </p:embeddedFont>
    <p:embeddedFont>
      <p:font typeface="Noto Serif Medium"/>
      <p:regular r:id="rId201320"/>
    </p:embeddedFont>
    <p:embeddedFont>
      <p:font typeface="Noto Serif SemiBold"/>
      <p:regular r:id="rId201321"/>
    </p:embeddedFont>
    <p:embeddedFont>
      <p:font typeface="Noto Serif Bold"/>
      <p:regular r:id="rId2013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DED2"/>
          </a:solidFill>
          <a:ln/>
        </p:spPr>
      </p:sp>
      <p:sp>
        <p:nvSpPr>
          <p:cNvPr id="3" name="Shape 1"/>
          <p:cNvSpPr/>
          <p:nvPr/>
        </p:nvSpPr>
        <p:spPr>
          <a:xfrm>
            <a:off x="0" y="0"/>
            <a:ext cx="9144000" cy="5143500"/>
          </a:xfrm>
          <a:prstGeom prst="rect">
            <a:avLst/>
          </a:prstGeom>
          <a:solidFill>
            <a:srgbClr val="FDFBF7"/>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2.png"/><Relationship Id="rId5" Type="http://schemas.openxmlformats.org/officeDocument/2006/relationships/image" Target="../media/image-3-3.svg"/><Relationship Id="rId6" Type="http://schemas.openxmlformats.org/officeDocument/2006/relationships/image" Target="../media/image-3-2.png"/><Relationship Id="rId7" Type="http://schemas.openxmlformats.org/officeDocument/2006/relationships/image" Target="../media/image-3-3.svg"/><Relationship Id="rId8" Type="http://schemas.openxmlformats.org/officeDocument/2006/relationships/slideLayout" Target="../slideLayouts/slideLayout2.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image" Target="../media/image-8-4.png"/><Relationship Id="rId5" Type="http://schemas.openxmlformats.org/officeDocument/2006/relationships/image" Target="../media/image-8-5.svg"/><Relationship Id="rId6" Type="http://schemas.openxmlformats.org/officeDocument/2006/relationships/image" Target="../media/image-8-6.png"/><Relationship Id="rId7" Type="http://schemas.openxmlformats.org/officeDocument/2006/relationships/image" Target="../media/image-8-7.svg"/><Relationship Id="rId8" Type="http://schemas.openxmlformats.org/officeDocument/2006/relationships/image" Target="../media/image-8-8.png"/><Relationship Id="rId9" Type="http://schemas.openxmlformats.org/officeDocument/2006/relationships/image" Target="../media/image-8-9.svg"/><Relationship Id="rId10" Type="http://schemas.openxmlformats.org/officeDocument/2006/relationships/slideLayout" Target="../slideLayouts/slideLayout2.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image" Target="../media/image-10-3.svg"/><Relationship Id="rId4" Type="http://schemas.openxmlformats.org/officeDocument/2006/relationships/image" Target="../media/image-10-2.png"/><Relationship Id="rId5" Type="http://schemas.openxmlformats.org/officeDocument/2006/relationships/image" Target="../media/image-10-3.svg"/><Relationship Id="rId6" Type="http://schemas.openxmlformats.org/officeDocument/2006/relationships/image" Target="../media/image-10-2.png"/><Relationship Id="rId7" Type="http://schemas.openxmlformats.org/officeDocument/2006/relationships/image" Target="../media/image-10-3.svg"/><Relationship Id="rId8" Type="http://schemas.openxmlformats.org/officeDocument/2006/relationships/slideLayout" Target="../slideLayouts/slideLayout2.xml"/><Relationship Id="rId9"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1494830"/>
            <a:ext cx="4722763" cy="885974"/>
          </a:xfrm>
          <a:prstGeom prst="rect">
            <a:avLst/>
          </a:prstGeom>
          <a:noFill/>
          <a:ln/>
        </p:spPr>
        <p:txBody>
          <a:bodyPr wrap="square" lIns="0" tIns="0" rIns="0" bIns="0" rtlCol="0" anchor="t">
            <a:normAutofit/>
          </a:bodyPr>
          <a:lstStyle/>
          <a:p>
            <a:pPr algn="l" indent="0" marL="0">
              <a:lnSpc>
                <a:spcPct val="104000"/>
              </a:lnSpc>
              <a:buNone/>
            </a:pPr>
            <a:r>
              <a:rPr lang="en-US" sz="2750" dirty="0">
                <a:solidFill>
                  <a:srgbClr val="3A3A3A"/>
                </a:solidFill>
                <a:latin typeface="Noto Serif Medium" pitchFamily="34" charset="0"/>
                <a:ea typeface="Noto Serif Medium" pitchFamily="34" charset="-122"/>
                <a:cs typeface="Noto Serif Medium" pitchFamily="34" charset="-120"/>
              </a:rPr>
              <a:t>Hospital Admission Prediction System</a:t>
            </a:r>
            <a:endParaRPr lang="en-US" sz="2750" dirty="0"/>
          </a:p>
        </p:txBody>
      </p:sp>
      <p:sp>
        <p:nvSpPr>
          <p:cNvPr id="4" name="Text 1"/>
          <p:cNvSpPr/>
          <p:nvPr/>
        </p:nvSpPr>
        <p:spPr>
          <a:xfrm>
            <a:off x="496119" y="2593404"/>
            <a:ext cx="4722763"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C4C4C"/>
                </a:solidFill>
                <a:latin typeface="Noto Serif" pitchFamily="34" charset="0"/>
                <a:ea typeface="Noto Serif" pitchFamily="34" charset="-122"/>
                <a:cs typeface="Noto Serif" pitchFamily="34" charset="-120"/>
              </a:rPr>
              <a:t>Using Patient Symptoms and Clinical Health Data to enable intelligent, timely, and data-driven admission decisions across modern healthcare institutions.</a:t>
            </a:r>
            <a:endParaRPr lang="en-US" sz="1100" dirty="0"/>
          </a:p>
        </p:txBody>
      </p:sp>
      <p:sp>
        <p:nvSpPr>
          <p:cNvPr id="5" name="Shape 2"/>
          <p:cNvSpPr/>
          <p:nvPr/>
        </p:nvSpPr>
        <p:spPr>
          <a:xfrm>
            <a:off x="496119" y="3433316"/>
            <a:ext cx="851074" cy="215354"/>
          </a:xfrm>
          <a:prstGeom prst="roundRect">
            <a:avLst>
              <a:gd name="adj" fmla="val 22119"/>
            </a:avLst>
          </a:prstGeom>
          <a:solidFill>
            <a:srgbClr val="E8E6E3"/>
          </a:solidFill>
          <a:ln/>
        </p:spPr>
      </p:sp>
      <p:sp>
        <p:nvSpPr>
          <p:cNvPr id="6" name="Text 3"/>
          <p:cNvSpPr/>
          <p:nvPr/>
        </p:nvSpPr>
        <p:spPr>
          <a:xfrm>
            <a:off x="581174" y="3475806"/>
            <a:ext cx="1138163" cy="130373"/>
          </a:xfrm>
          <a:prstGeom prst="rect">
            <a:avLst/>
          </a:prstGeom>
          <a:noFill/>
          <a:ln/>
        </p:spPr>
        <p:txBody>
          <a:bodyPr wrap="none" lIns="0" tIns="0" rIns="0" bIns="0" rtlCol="0" anchor="t"/>
          <a:lstStyle/>
          <a:p>
            <a:pPr algn="l" indent="0" marL="0">
              <a:lnSpc>
                <a:spcPct val="96000"/>
              </a:lnSpc>
              <a:buNone/>
            </a:pPr>
            <a:r>
              <a:rPr lang="en-US" sz="850" dirty="0">
                <a:solidFill>
                  <a:srgbClr val="4C4C4C"/>
                </a:solidFill>
                <a:latin typeface="Noto Serif" pitchFamily="34" charset="0"/>
                <a:ea typeface="Noto Serif" pitchFamily="34" charset="-122"/>
                <a:cs typeface="Noto Serif" pitchFamily="34" charset="-120"/>
              </a:rPr>
              <a:t>CLINICAL AI</a:t>
            </a:r>
            <a:endParaRPr lang="en-US" sz="850" dirty="0"/>
          </a:p>
        </p:txBody>
      </p:sp>
      <p:sp>
        <p:nvSpPr>
          <p:cNvPr id="7" name="Shape 4"/>
          <p:cNvSpPr/>
          <p:nvPr/>
        </p:nvSpPr>
        <p:spPr>
          <a:xfrm>
            <a:off x="1418034" y="3433316"/>
            <a:ext cx="1332607" cy="215354"/>
          </a:xfrm>
          <a:prstGeom prst="roundRect">
            <a:avLst>
              <a:gd name="adj" fmla="val 22119"/>
            </a:avLst>
          </a:prstGeom>
          <a:noFill/>
          <a:ln w="4763">
            <a:solidFill>
              <a:srgbClr val="9C9283"/>
            </a:solidFill>
            <a:prstDash val="solid"/>
          </a:ln>
        </p:spPr>
      </p:sp>
      <p:sp>
        <p:nvSpPr>
          <p:cNvPr id="8" name="Text 5"/>
          <p:cNvSpPr/>
          <p:nvPr/>
        </p:nvSpPr>
        <p:spPr>
          <a:xfrm>
            <a:off x="1503090" y="3475806"/>
            <a:ext cx="1619696" cy="130373"/>
          </a:xfrm>
          <a:prstGeom prst="rect">
            <a:avLst/>
          </a:prstGeom>
          <a:noFill/>
          <a:ln/>
        </p:spPr>
        <p:txBody>
          <a:bodyPr wrap="none" lIns="0" tIns="0" rIns="0" bIns="0" rtlCol="0" anchor="t"/>
          <a:lstStyle/>
          <a:p>
            <a:pPr algn="l" indent="0" marL="0">
              <a:lnSpc>
                <a:spcPct val="96000"/>
              </a:lnSpc>
              <a:buNone/>
            </a:pPr>
            <a:r>
              <a:rPr lang="en-US" sz="850" dirty="0">
                <a:solidFill>
                  <a:srgbClr val="9C9283"/>
                </a:solidFill>
                <a:latin typeface="Noto Serif" pitchFamily="34" charset="0"/>
                <a:ea typeface="Noto Serif" pitchFamily="34" charset="-122"/>
                <a:cs typeface="Noto Serif" pitchFamily="34" charset="-120"/>
              </a:rPr>
              <a:t>MACHINE LEARNING</a:t>
            </a:r>
            <a:endParaRPr lang="en-US" sz="850" dirty="0"/>
          </a:p>
        </p:txBody>
      </p:sp>
      <p:sp>
        <p:nvSpPr>
          <p:cNvPr id="9" name="Shape 6"/>
          <p:cNvSpPr/>
          <p:nvPr/>
        </p:nvSpPr>
        <p:spPr>
          <a:xfrm>
            <a:off x="2821484" y="3433316"/>
            <a:ext cx="1579662" cy="215354"/>
          </a:xfrm>
          <a:prstGeom prst="roundRect">
            <a:avLst>
              <a:gd name="adj" fmla="val 22119"/>
            </a:avLst>
          </a:prstGeom>
          <a:noFill/>
          <a:ln w="4763">
            <a:solidFill>
              <a:srgbClr val="9C9283"/>
            </a:solidFill>
            <a:prstDash val="solid"/>
          </a:ln>
        </p:spPr>
      </p:sp>
      <p:sp>
        <p:nvSpPr>
          <p:cNvPr id="10" name="Text 7"/>
          <p:cNvSpPr/>
          <p:nvPr/>
        </p:nvSpPr>
        <p:spPr>
          <a:xfrm>
            <a:off x="2906539" y="3475806"/>
            <a:ext cx="1866751" cy="130373"/>
          </a:xfrm>
          <a:prstGeom prst="rect">
            <a:avLst/>
          </a:prstGeom>
          <a:noFill/>
          <a:ln/>
        </p:spPr>
        <p:txBody>
          <a:bodyPr wrap="none" lIns="0" tIns="0" rIns="0" bIns="0" rtlCol="0" anchor="t"/>
          <a:lstStyle/>
          <a:p>
            <a:pPr algn="l" indent="0" marL="0">
              <a:lnSpc>
                <a:spcPct val="96000"/>
              </a:lnSpc>
              <a:buNone/>
            </a:pPr>
            <a:r>
              <a:rPr lang="en-US" sz="850" dirty="0">
                <a:solidFill>
                  <a:srgbClr val="9C9283"/>
                </a:solidFill>
                <a:latin typeface="Noto Serif" pitchFamily="34" charset="0"/>
                <a:ea typeface="Noto Serif" pitchFamily="34" charset="-122"/>
                <a:cs typeface="Noto Serif" pitchFamily="34" charset="-120"/>
              </a:rPr>
              <a:t>HEALTHCARE ANALYTICS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691530"/>
            <a:ext cx="4722763" cy="346100"/>
          </a:xfrm>
          <a:prstGeom prst="rect">
            <a:avLst/>
          </a:prstGeom>
          <a:noFill/>
          <a:ln/>
        </p:spPr>
        <p:txBody>
          <a:bodyPr wrap="none" lIns="0" tIns="0" rIns="0" bIns="0" rtlCol="0" anchor="t"/>
          <a:lstStyle/>
          <a:p>
            <a:pPr algn="l" indent="0" marL="0">
              <a:lnSpc>
                <a:spcPct val="104000"/>
              </a:lnSpc>
              <a:buNone/>
            </a:pPr>
            <a:r>
              <a:rPr lang="en-US" sz="2150" dirty="0">
                <a:solidFill>
                  <a:srgbClr val="3A3A3A"/>
                </a:solidFill>
                <a:latin typeface="Noto Serif Medium" pitchFamily="34" charset="0"/>
                <a:ea typeface="Noto Serif Medium" pitchFamily="34" charset="-122"/>
                <a:cs typeface="Noto Serif Medium" pitchFamily="34" charset="-120"/>
              </a:rPr>
              <a:t>The Clinical Decision-Making Crisis</a:t>
            </a:r>
            <a:endParaRPr lang="en-US" sz="2150" dirty="0"/>
          </a:p>
        </p:txBody>
      </p:sp>
      <p:sp>
        <p:nvSpPr>
          <p:cNvPr id="4" name="Text 1"/>
          <p:cNvSpPr/>
          <p:nvPr/>
        </p:nvSpPr>
        <p:spPr>
          <a:xfrm>
            <a:off x="3925119" y="1167408"/>
            <a:ext cx="4722763" cy="315516"/>
          </a:xfrm>
          <a:prstGeom prst="rect">
            <a:avLst/>
          </a:prstGeom>
          <a:noFill/>
          <a:ln/>
        </p:spPr>
        <p:txBody>
          <a:bodyPr wrap="square" lIns="0" tIns="0" rIns="0" bIns="0" rtlCol="0" anchor="t">
            <a:normAutofit/>
          </a:bodyPr>
          <a:lstStyle/>
          <a:p>
            <a:pPr algn="l" indent="0" marL="0">
              <a:lnSpc>
                <a:spcPct val="119000"/>
              </a:lnSpc>
              <a:buNone/>
            </a:pPr>
            <a:r>
              <a:rPr lang="en-US" sz="850" dirty="0">
                <a:solidFill>
                  <a:srgbClr val="4C4C4C"/>
                </a:solidFill>
                <a:latin typeface="Noto Serif" pitchFamily="34" charset="0"/>
                <a:ea typeface="Noto Serif" pitchFamily="34" charset="-122"/>
                <a:cs typeface="Noto Serif" pitchFamily="34" charset="-120"/>
              </a:rPr>
              <a:t>Hospitals are overwhelmed. Manual assessments cannot keep pace with rising patient volumes, leading to delayed decisions, inefficient bed allocation, and strained resources.</a:t>
            </a:r>
            <a:endParaRPr lang="en-US" sz="850" dirty="0"/>
          </a:p>
        </p:txBody>
      </p:sp>
      <p:sp>
        <p:nvSpPr>
          <p:cNvPr id="5" name="Shape 2"/>
          <p:cNvSpPr/>
          <p:nvPr/>
        </p:nvSpPr>
        <p:spPr>
          <a:xfrm>
            <a:off x="3925119" y="1580257"/>
            <a:ext cx="4722763" cy="613618"/>
          </a:xfrm>
          <a:prstGeom prst="roundRect">
            <a:avLst>
              <a:gd name="adj" fmla="val 7581"/>
            </a:avLst>
          </a:prstGeom>
          <a:solidFill>
            <a:srgbClr val="E6DED2">
              <a:alpha val="50000"/>
            </a:srgbClr>
          </a:solidFill>
          <a:ln w="4763">
            <a:solidFill>
              <a:srgbClr val="CCC4B8"/>
            </a:solidFill>
            <a:prstDash val="solid"/>
          </a:ln>
          <a:effectLst>
            <a:outerShdw sx="100000" sy="100000" kx="0" ky="0" algn="bl" rotWithShape="0" blurRad="101600" dist="13970" dir="2700000">
              <a:srgbClr val="ccc4b8">
                <a:alpha val="100000"/>
              </a:srgbClr>
            </a:outerShdw>
          </a:effectLst>
        </p:spPr>
      </p:sp>
      <p:sp>
        <p:nvSpPr>
          <p:cNvPr id="6" name="Text 3"/>
          <p:cNvSpPr/>
          <p:nvPr/>
        </p:nvSpPr>
        <p:spPr>
          <a:xfrm>
            <a:off x="4040609" y="1695748"/>
            <a:ext cx="4491782" cy="173013"/>
          </a:xfrm>
          <a:prstGeom prst="rect">
            <a:avLst/>
          </a:prstGeom>
          <a:noFill/>
          <a:ln/>
        </p:spPr>
        <p:txBody>
          <a:bodyPr wrap="none" lIns="0" tIns="0" rIns="0" bIns="0" rtlCol="0" anchor="t"/>
          <a:lstStyle/>
          <a:p>
            <a:pPr algn="l" indent="0" marL="0">
              <a:lnSpc>
                <a:spcPct val="104000"/>
              </a:lnSpc>
              <a:buNone/>
            </a:pPr>
            <a:r>
              <a:rPr lang="en-US" sz="1050" dirty="0">
                <a:solidFill>
                  <a:srgbClr val="000000"/>
                </a:solidFill>
                <a:latin typeface="Noto Serif Medium" pitchFamily="34" charset="0"/>
                <a:ea typeface="Noto Serif Medium" pitchFamily="34" charset="-122"/>
                <a:cs typeface="Noto Serif Medium" pitchFamily="34" charset="-120"/>
              </a:rPr>
              <a:t>Rising Patient Volumes</a:t>
            </a:r>
            <a:endParaRPr lang="en-US" sz="1050" dirty="0"/>
          </a:p>
        </p:txBody>
      </p:sp>
      <p:sp>
        <p:nvSpPr>
          <p:cNvPr id="7" name="Text 4"/>
          <p:cNvSpPr/>
          <p:nvPr/>
        </p:nvSpPr>
        <p:spPr>
          <a:xfrm>
            <a:off x="4040609" y="1920627"/>
            <a:ext cx="4491782" cy="157758"/>
          </a:xfrm>
          <a:prstGeom prst="rect">
            <a:avLst/>
          </a:prstGeom>
          <a:noFill/>
          <a:ln/>
        </p:spPr>
        <p:txBody>
          <a:bodyPr wrap="none" lIns="0" tIns="0" rIns="0" bIns="0" rtlCol="0" anchor="t"/>
          <a:lstStyle/>
          <a:p>
            <a:pPr algn="l" indent="0" marL="0">
              <a:lnSpc>
                <a:spcPct val="119000"/>
              </a:lnSpc>
              <a:buNone/>
            </a:pPr>
            <a:r>
              <a:rPr lang="en-US" sz="850" dirty="0">
                <a:solidFill>
                  <a:srgbClr val="000000"/>
                </a:solidFill>
                <a:latin typeface="Noto Serif" pitchFamily="34" charset="0"/>
                <a:ea typeface="Noto Serif" pitchFamily="34" charset="-122"/>
                <a:cs typeface="Noto Serif" pitchFamily="34" charset="-120"/>
              </a:rPr>
              <a:t>ED visits continue to climb globally, outpacing staffing and infrastructure capacity.</a:t>
            </a:r>
            <a:endParaRPr lang="en-US" sz="850" dirty="0"/>
          </a:p>
        </p:txBody>
      </p:sp>
      <p:sp>
        <p:nvSpPr>
          <p:cNvPr id="8" name="Shape 5"/>
          <p:cNvSpPr/>
          <p:nvPr/>
        </p:nvSpPr>
        <p:spPr>
          <a:xfrm>
            <a:off x="3925119" y="2280345"/>
            <a:ext cx="4722763" cy="771376"/>
          </a:xfrm>
          <a:prstGeom prst="roundRect">
            <a:avLst>
              <a:gd name="adj" fmla="val 6030"/>
            </a:avLst>
          </a:prstGeom>
          <a:solidFill>
            <a:srgbClr val="E6DED2">
              <a:alpha val="50000"/>
            </a:srgbClr>
          </a:solidFill>
          <a:ln w="4763">
            <a:solidFill>
              <a:srgbClr val="CCC4B8"/>
            </a:solidFill>
            <a:prstDash val="solid"/>
          </a:ln>
          <a:effectLst>
            <a:outerShdw sx="100000" sy="100000" kx="0" ky="0" algn="bl" rotWithShape="0" blurRad="101600" dist="13970" dir="2700000">
              <a:srgbClr val="ccc4b8">
                <a:alpha val="100000"/>
              </a:srgbClr>
            </a:outerShdw>
          </a:effectLst>
        </p:spPr>
      </p:sp>
      <p:sp>
        <p:nvSpPr>
          <p:cNvPr id="9" name="Text 6"/>
          <p:cNvSpPr/>
          <p:nvPr/>
        </p:nvSpPr>
        <p:spPr>
          <a:xfrm>
            <a:off x="4040609" y="2395835"/>
            <a:ext cx="4491782" cy="173013"/>
          </a:xfrm>
          <a:prstGeom prst="rect">
            <a:avLst/>
          </a:prstGeom>
          <a:noFill/>
          <a:ln/>
        </p:spPr>
        <p:txBody>
          <a:bodyPr wrap="none" lIns="0" tIns="0" rIns="0" bIns="0" rtlCol="0" anchor="t"/>
          <a:lstStyle/>
          <a:p>
            <a:pPr algn="l" indent="0" marL="0">
              <a:lnSpc>
                <a:spcPct val="104000"/>
              </a:lnSpc>
              <a:buNone/>
            </a:pPr>
            <a:r>
              <a:rPr lang="en-US" sz="1050" dirty="0">
                <a:solidFill>
                  <a:srgbClr val="000000"/>
                </a:solidFill>
                <a:latin typeface="Noto Serif Medium" pitchFamily="34" charset="0"/>
                <a:ea typeface="Noto Serif Medium" pitchFamily="34" charset="-122"/>
                <a:cs typeface="Noto Serif Medium" pitchFamily="34" charset="-120"/>
              </a:rPr>
              <a:t>Delayed Decisions</a:t>
            </a:r>
            <a:endParaRPr lang="en-US" sz="1050" dirty="0"/>
          </a:p>
        </p:txBody>
      </p:sp>
      <p:sp>
        <p:nvSpPr>
          <p:cNvPr id="10" name="Text 7"/>
          <p:cNvSpPr/>
          <p:nvPr/>
        </p:nvSpPr>
        <p:spPr>
          <a:xfrm>
            <a:off x="4040609" y="2620714"/>
            <a:ext cx="4491782" cy="315516"/>
          </a:xfrm>
          <a:prstGeom prst="rect">
            <a:avLst/>
          </a:prstGeom>
          <a:noFill/>
          <a:ln/>
        </p:spPr>
        <p:txBody>
          <a:bodyPr wrap="square" lIns="0" tIns="0" rIns="0" bIns="0" rtlCol="0" anchor="t">
            <a:normAutofit/>
          </a:bodyPr>
          <a:lstStyle/>
          <a:p>
            <a:pPr algn="l" indent="0" marL="0">
              <a:lnSpc>
                <a:spcPct val="119000"/>
              </a:lnSpc>
              <a:buNone/>
            </a:pPr>
            <a:r>
              <a:rPr lang="en-US" sz="850" dirty="0">
                <a:solidFill>
                  <a:srgbClr val="000000"/>
                </a:solidFill>
                <a:latin typeface="Noto Serif" pitchFamily="34" charset="0"/>
                <a:ea typeface="Noto Serif" pitchFamily="34" charset="-122"/>
                <a:cs typeface="Noto Serif" pitchFamily="34" charset="-120"/>
              </a:rPr>
              <a:t>Manual triage introduces critical delays, increasing patient risk and operational costs.</a:t>
            </a:r>
            <a:endParaRPr lang="en-US" sz="850" dirty="0"/>
          </a:p>
        </p:txBody>
      </p:sp>
      <p:sp>
        <p:nvSpPr>
          <p:cNvPr id="11" name="Shape 8"/>
          <p:cNvSpPr/>
          <p:nvPr/>
        </p:nvSpPr>
        <p:spPr>
          <a:xfrm>
            <a:off x="3925119" y="3138190"/>
            <a:ext cx="4722763" cy="613618"/>
          </a:xfrm>
          <a:prstGeom prst="roundRect">
            <a:avLst>
              <a:gd name="adj" fmla="val 7581"/>
            </a:avLst>
          </a:prstGeom>
          <a:solidFill>
            <a:srgbClr val="E6DED2">
              <a:alpha val="50000"/>
            </a:srgbClr>
          </a:solidFill>
          <a:ln w="4763">
            <a:solidFill>
              <a:srgbClr val="CCC4B8"/>
            </a:solidFill>
            <a:prstDash val="solid"/>
          </a:ln>
          <a:effectLst>
            <a:outerShdw sx="100000" sy="100000" kx="0" ky="0" algn="bl" rotWithShape="0" blurRad="101600" dist="13970" dir="2700000">
              <a:srgbClr val="ccc4b8">
                <a:alpha val="100000"/>
              </a:srgbClr>
            </a:outerShdw>
          </a:effectLst>
        </p:spPr>
      </p:sp>
      <p:sp>
        <p:nvSpPr>
          <p:cNvPr id="12" name="Text 9"/>
          <p:cNvSpPr/>
          <p:nvPr/>
        </p:nvSpPr>
        <p:spPr>
          <a:xfrm>
            <a:off x="4040609" y="3253680"/>
            <a:ext cx="4491782" cy="173013"/>
          </a:xfrm>
          <a:prstGeom prst="rect">
            <a:avLst/>
          </a:prstGeom>
          <a:noFill/>
          <a:ln/>
        </p:spPr>
        <p:txBody>
          <a:bodyPr wrap="none" lIns="0" tIns="0" rIns="0" bIns="0" rtlCol="0" anchor="t"/>
          <a:lstStyle/>
          <a:p>
            <a:pPr algn="l" indent="0" marL="0">
              <a:lnSpc>
                <a:spcPct val="104000"/>
              </a:lnSpc>
              <a:buNone/>
            </a:pPr>
            <a:r>
              <a:rPr lang="en-US" sz="1050" dirty="0">
                <a:solidFill>
                  <a:srgbClr val="000000"/>
                </a:solidFill>
                <a:latin typeface="Noto Serif Medium" pitchFamily="34" charset="0"/>
                <a:ea typeface="Noto Serif Medium" pitchFamily="34" charset="-122"/>
                <a:cs typeface="Noto Serif Medium" pitchFamily="34" charset="-120"/>
              </a:rPr>
              <a:t>Inefficient Bed Allocation</a:t>
            </a:r>
            <a:endParaRPr lang="en-US" sz="1050" dirty="0"/>
          </a:p>
        </p:txBody>
      </p:sp>
      <p:sp>
        <p:nvSpPr>
          <p:cNvPr id="13" name="Text 10"/>
          <p:cNvSpPr/>
          <p:nvPr/>
        </p:nvSpPr>
        <p:spPr>
          <a:xfrm>
            <a:off x="4040609" y="3478560"/>
            <a:ext cx="4491782" cy="157758"/>
          </a:xfrm>
          <a:prstGeom prst="rect">
            <a:avLst/>
          </a:prstGeom>
          <a:noFill/>
          <a:ln/>
        </p:spPr>
        <p:txBody>
          <a:bodyPr wrap="none" lIns="0" tIns="0" rIns="0" bIns="0" rtlCol="0" anchor="t"/>
          <a:lstStyle/>
          <a:p>
            <a:pPr algn="l" indent="0" marL="0">
              <a:lnSpc>
                <a:spcPct val="119000"/>
              </a:lnSpc>
              <a:buNone/>
            </a:pPr>
            <a:r>
              <a:rPr lang="en-US" sz="850" dirty="0">
                <a:solidFill>
                  <a:srgbClr val="000000"/>
                </a:solidFill>
                <a:latin typeface="Noto Serif" pitchFamily="34" charset="0"/>
                <a:ea typeface="Noto Serif" pitchFamily="34" charset="-122"/>
                <a:cs typeface="Noto Serif" pitchFamily="34" charset="-120"/>
              </a:rPr>
              <a:t>Without predictive tools, bed management remains reactive rather than proactive.</a:t>
            </a:r>
            <a:endParaRPr lang="en-US" sz="850" dirty="0"/>
          </a:p>
        </p:txBody>
      </p:sp>
      <p:sp>
        <p:nvSpPr>
          <p:cNvPr id="14" name="Shape 11"/>
          <p:cNvSpPr/>
          <p:nvPr/>
        </p:nvSpPr>
        <p:spPr>
          <a:xfrm>
            <a:off x="3925119" y="3838277"/>
            <a:ext cx="4722763" cy="613618"/>
          </a:xfrm>
          <a:prstGeom prst="roundRect">
            <a:avLst>
              <a:gd name="adj" fmla="val 7581"/>
            </a:avLst>
          </a:prstGeom>
          <a:solidFill>
            <a:srgbClr val="E6DED2">
              <a:alpha val="50000"/>
            </a:srgbClr>
          </a:solidFill>
          <a:ln w="4763">
            <a:solidFill>
              <a:srgbClr val="CCC4B8"/>
            </a:solidFill>
            <a:prstDash val="solid"/>
          </a:ln>
          <a:effectLst>
            <a:outerShdw sx="100000" sy="100000" kx="0" ky="0" algn="bl" rotWithShape="0" blurRad="101600" dist="13970" dir="2700000">
              <a:srgbClr val="ccc4b8">
                <a:alpha val="100000"/>
              </a:srgbClr>
            </a:outerShdw>
          </a:effectLst>
        </p:spPr>
      </p:sp>
      <p:sp>
        <p:nvSpPr>
          <p:cNvPr id="15" name="Text 12"/>
          <p:cNvSpPr/>
          <p:nvPr/>
        </p:nvSpPr>
        <p:spPr>
          <a:xfrm>
            <a:off x="4040609" y="3953768"/>
            <a:ext cx="4491782" cy="173013"/>
          </a:xfrm>
          <a:prstGeom prst="rect">
            <a:avLst/>
          </a:prstGeom>
          <a:noFill/>
          <a:ln/>
        </p:spPr>
        <p:txBody>
          <a:bodyPr wrap="none" lIns="0" tIns="0" rIns="0" bIns="0" rtlCol="0" anchor="t"/>
          <a:lstStyle/>
          <a:p>
            <a:pPr algn="l" indent="0" marL="0">
              <a:lnSpc>
                <a:spcPct val="104000"/>
              </a:lnSpc>
              <a:buNone/>
            </a:pPr>
            <a:r>
              <a:rPr lang="en-US" sz="1050" dirty="0">
                <a:solidFill>
                  <a:srgbClr val="000000"/>
                </a:solidFill>
                <a:latin typeface="Noto Serif Medium" pitchFamily="34" charset="0"/>
                <a:ea typeface="Noto Serif Medium" pitchFamily="34" charset="-122"/>
                <a:cs typeface="Noto Serif Medium" pitchFamily="34" charset="-120"/>
              </a:rPr>
              <a:t>Resource Constraints</a:t>
            </a:r>
            <a:endParaRPr lang="en-US" sz="1050" dirty="0"/>
          </a:p>
        </p:txBody>
      </p:sp>
      <p:sp>
        <p:nvSpPr>
          <p:cNvPr id="16" name="Text 13"/>
          <p:cNvSpPr/>
          <p:nvPr/>
        </p:nvSpPr>
        <p:spPr>
          <a:xfrm>
            <a:off x="4040609" y="4178647"/>
            <a:ext cx="4491782" cy="157758"/>
          </a:xfrm>
          <a:prstGeom prst="rect">
            <a:avLst/>
          </a:prstGeom>
          <a:noFill/>
          <a:ln/>
        </p:spPr>
        <p:txBody>
          <a:bodyPr wrap="none" lIns="0" tIns="0" rIns="0" bIns="0" rtlCol="0" anchor="t"/>
          <a:lstStyle/>
          <a:p>
            <a:pPr algn="l" indent="0" marL="0">
              <a:lnSpc>
                <a:spcPct val="119000"/>
              </a:lnSpc>
              <a:buNone/>
            </a:pPr>
            <a:r>
              <a:rPr lang="en-US" sz="850" dirty="0">
                <a:solidFill>
                  <a:srgbClr val="000000"/>
                </a:solidFill>
                <a:latin typeface="Noto Serif" pitchFamily="34" charset="0"/>
                <a:ea typeface="Noto Serif" pitchFamily="34" charset="-122"/>
                <a:cs typeface="Noto Serif" pitchFamily="34" charset="-120"/>
              </a:rPr>
              <a:t>Limited clinical staff must prioritise care without intelligent decision support.</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461665"/>
            <a:ext cx="8151763" cy="339179"/>
          </a:xfrm>
          <a:prstGeom prst="rect">
            <a:avLst/>
          </a:prstGeom>
          <a:noFill/>
          <a:ln/>
        </p:spPr>
        <p:txBody>
          <a:bodyPr wrap="none" lIns="0" tIns="0" rIns="0" bIns="0" rtlCol="0" anchor="t"/>
          <a:lstStyle/>
          <a:p>
            <a:pPr algn="l" indent="0" marL="0">
              <a:lnSpc>
                <a:spcPct val="104000"/>
              </a:lnSpc>
              <a:buNone/>
            </a:pPr>
            <a:r>
              <a:rPr lang="en-US" sz="2100" dirty="0">
                <a:solidFill>
                  <a:srgbClr val="3A3A3A"/>
                </a:solidFill>
                <a:latin typeface="Noto Serif Medium" pitchFamily="34" charset="0"/>
                <a:ea typeface="Noto Serif Medium" pitchFamily="34" charset="-122"/>
                <a:cs typeface="Noto Serif Medium" pitchFamily="34" charset="-120"/>
              </a:rPr>
              <a:t>The Proposed Solution</a:t>
            </a:r>
            <a:endParaRPr lang="en-US" sz="2100" dirty="0"/>
          </a:p>
        </p:txBody>
      </p:sp>
      <p:pic>
        <p:nvPicPr>
          <p:cNvPr id="3" name="Image 0" descr="preencoded.png">    </p:cNvPr>
          <p:cNvPicPr>
            <a:picLocks noChangeAspect="1"/>
          </p:cNvPicPr>
          <p:nvPr/>
        </p:nvPicPr>
        <p:blipFill>
          <a:blip r:embed="rId1"/>
          <a:stretch>
            <a:fillRect/>
          </a:stretch>
        </p:blipFill>
        <p:spPr>
          <a:xfrm>
            <a:off x="496119" y="1018952"/>
            <a:ext cx="5205933" cy="2949997"/>
          </a:xfrm>
          <a:prstGeom prst="rect">
            <a:avLst/>
          </a:prstGeom>
        </p:spPr>
      </p:pic>
      <p:sp>
        <p:nvSpPr>
          <p:cNvPr id="4" name="Text 1"/>
          <p:cNvSpPr/>
          <p:nvPr/>
        </p:nvSpPr>
        <p:spPr>
          <a:xfrm>
            <a:off x="5971580" y="2187327"/>
            <a:ext cx="2680990" cy="613172"/>
          </a:xfrm>
          <a:prstGeom prst="rect">
            <a:avLst/>
          </a:prstGeom>
          <a:noFill/>
          <a:ln/>
        </p:spPr>
        <p:txBody>
          <a:bodyPr wrap="square" lIns="0" tIns="0" rIns="0" bIns="0" rtlCol="0" anchor="t">
            <a:normAutofit/>
          </a:bodyPr>
          <a:lstStyle/>
          <a:p>
            <a:pPr algn="l" indent="0" marL="0">
              <a:lnSpc>
                <a:spcPct val="118000"/>
              </a:lnSpc>
              <a:buNone/>
            </a:pPr>
            <a:r>
              <a:rPr lang="en-US" sz="850" dirty="0">
                <a:solidFill>
                  <a:srgbClr val="4C4C4C"/>
                </a:solidFill>
                <a:latin typeface="Noto Serif" pitchFamily="34" charset="0"/>
                <a:ea typeface="Noto Serif" pitchFamily="34" charset="-122"/>
                <a:cs typeface="Noto Serif" pitchFamily="34" charset="-120"/>
              </a:rPr>
              <a:t>The system predicts hospital admission probability by synthesising multiple clinical data streams into a single, actionable risk score — empowering clinicians to act faster and with greater confidence.</a:t>
            </a:r>
            <a:endParaRPr lang="en-US" sz="850" dirty="0"/>
          </a:p>
        </p:txBody>
      </p:sp>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6823" y="4159188"/>
            <a:ext cx="162744" cy="162744"/>
          </a:xfrm>
          <a:prstGeom prst="rect">
            <a:avLst/>
          </a:prstGeom>
        </p:spPr>
      </p:pic>
      <p:sp>
        <p:nvSpPr>
          <p:cNvPr id="6" name="Text 2"/>
          <p:cNvSpPr/>
          <p:nvPr/>
        </p:nvSpPr>
        <p:spPr>
          <a:xfrm>
            <a:off x="848767" y="4155877"/>
            <a:ext cx="2295376" cy="169515"/>
          </a:xfrm>
          <a:prstGeom prst="rect">
            <a:avLst/>
          </a:prstGeom>
          <a:noFill/>
          <a:ln/>
        </p:spPr>
        <p:txBody>
          <a:bodyPr wrap="none" lIns="0" tIns="0" rIns="0" bIns="0" rtlCol="0" anchor="t"/>
          <a:lstStyle/>
          <a:p>
            <a:pPr algn="l" indent="0" marL="0">
              <a:lnSpc>
                <a:spcPct val="104000"/>
              </a:lnSpc>
              <a:buNone/>
            </a:pPr>
            <a:r>
              <a:rPr lang="en-US" sz="1050" dirty="0">
                <a:solidFill>
                  <a:srgbClr val="4C4C4C"/>
                </a:solidFill>
                <a:latin typeface="Noto Serif Medium" pitchFamily="34" charset="0"/>
                <a:ea typeface="Noto Serif Medium" pitchFamily="34" charset="-122"/>
                <a:cs typeface="Noto Serif Medium" pitchFamily="34" charset="-120"/>
              </a:rPr>
              <a:t>Multi-Parameter Input</a:t>
            </a:r>
            <a:endParaRPr lang="en-US" sz="1050" dirty="0"/>
          </a:p>
        </p:txBody>
      </p:sp>
      <p:sp>
        <p:nvSpPr>
          <p:cNvPr id="7" name="Text 3"/>
          <p:cNvSpPr/>
          <p:nvPr/>
        </p:nvSpPr>
        <p:spPr>
          <a:xfrm>
            <a:off x="848767" y="4375249"/>
            <a:ext cx="2295376" cy="306586"/>
          </a:xfrm>
          <a:prstGeom prst="rect">
            <a:avLst/>
          </a:prstGeom>
          <a:noFill/>
          <a:ln/>
        </p:spPr>
        <p:txBody>
          <a:bodyPr wrap="square" lIns="0" tIns="0" rIns="0" bIns="0" rtlCol="0" anchor="t">
            <a:normAutofit/>
          </a:bodyPr>
          <a:lstStyle/>
          <a:p>
            <a:pPr algn="l" indent="0" marL="0">
              <a:lnSpc>
                <a:spcPct val="118000"/>
              </a:lnSpc>
              <a:buNone/>
            </a:pPr>
            <a:r>
              <a:rPr lang="en-US" sz="850" dirty="0">
                <a:solidFill>
                  <a:srgbClr val="4C4C4C"/>
                </a:solidFill>
                <a:latin typeface="Noto Serif" pitchFamily="34" charset="0"/>
                <a:ea typeface="Noto Serif" pitchFamily="34" charset="-122"/>
                <a:cs typeface="Noto Serif" pitchFamily="34" charset="-120"/>
              </a:rPr>
              <a:t>Symptoms, demographics, medical history, vital signs, and laboratory results.</a:t>
            </a:r>
            <a:endParaRPr lang="en-US" sz="850" dirty="0"/>
          </a:p>
        </p:txBody>
      </p:sp>
      <p:pic>
        <p:nvPicPr>
          <p:cNvPr id="8"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88655" y="4159188"/>
            <a:ext cx="162744" cy="162744"/>
          </a:xfrm>
          <a:prstGeom prst="rect">
            <a:avLst/>
          </a:prstGeom>
        </p:spPr>
      </p:pic>
      <p:sp>
        <p:nvSpPr>
          <p:cNvPr id="9" name="Text 4"/>
          <p:cNvSpPr/>
          <p:nvPr/>
        </p:nvSpPr>
        <p:spPr>
          <a:xfrm>
            <a:off x="3600599" y="4155877"/>
            <a:ext cx="2295376" cy="169515"/>
          </a:xfrm>
          <a:prstGeom prst="rect">
            <a:avLst/>
          </a:prstGeom>
          <a:noFill/>
          <a:ln/>
        </p:spPr>
        <p:txBody>
          <a:bodyPr wrap="none" lIns="0" tIns="0" rIns="0" bIns="0" rtlCol="0" anchor="t"/>
          <a:lstStyle/>
          <a:p>
            <a:pPr algn="l" indent="0" marL="0">
              <a:lnSpc>
                <a:spcPct val="104000"/>
              </a:lnSpc>
              <a:buNone/>
            </a:pPr>
            <a:r>
              <a:rPr lang="en-US" sz="1050" dirty="0">
                <a:solidFill>
                  <a:srgbClr val="4C4C4C"/>
                </a:solidFill>
                <a:latin typeface="Noto Serif Medium" pitchFamily="34" charset="0"/>
                <a:ea typeface="Noto Serif Medium" pitchFamily="34" charset="-122"/>
                <a:cs typeface="Noto Serif Medium" pitchFamily="34" charset="-120"/>
              </a:rPr>
              <a:t>ML-Driven Inference</a:t>
            </a:r>
            <a:endParaRPr lang="en-US" sz="1050" dirty="0"/>
          </a:p>
        </p:txBody>
      </p:sp>
      <p:sp>
        <p:nvSpPr>
          <p:cNvPr id="10" name="Text 5"/>
          <p:cNvSpPr/>
          <p:nvPr/>
        </p:nvSpPr>
        <p:spPr>
          <a:xfrm>
            <a:off x="3600599" y="4375249"/>
            <a:ext cx="2295376" cy="306586"/>
          </a:xfrm>
          <a:prstGeom prst="rect">
            <a:avLst/>
          </a:prstGeom>
          <a:noFill/>
          <a:ln/>
        </p:spPr>
        <p:txBody>
          <a:bodyPr wrap="square" lIns="0" tIns="0" rIns="0" bIns="0" rtlCol="0" anchor="t">
            <a:normAutofit/>
          </a:bodyPr>
          <a:lstStyle/>
          <a:p>
            <a:pPr algn="l" indent="0" marL="0">
              <a:lnSpc>
                <a:spcPct val="118000"/>
              </a:lnSpc>
              <a:buNone/>
            </a:pPr>
            <a:r>
              <a:rPr lang="en-US" sz="850" dirty="0">
                <a:solidFill>
                  <a:srgbClr val="4C4C4C"/>
                </a:solidFill>
                <a:latin typeface="Noto Serif" pitchFamily="34" charset="0"/>
                <a:ea typeface="Noto Serif" pitchFamily="34" charset="-122"/>
                <a:cs typeface="Noto Serif" pitchFamily="34" charset="-120"/>
              </a:rPr>
              <a:t>Trained models analyse clinical parameters to generate admission probability scores.</a:t>
            </a:r>
            <a:endParaRPr lang="en-US" sz="850" dirty="0"/>
          </a:p>
        </p:txBody>
      </p:sp>
      <p:pic>
        <p:nvPicPr>
          <p:cNvPr id="1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040487" y="4159188"/>
            <a:ext cx="162744" cy="162744"/>
          </a:xfrm>
          <a:prstGeom prst="rect">
            <a:avLst/>
          </a:prstGeom>
        </p:spPr>
      </p:pic>
      <p:sp>
        <p:nvSpPr>
          <p:cNvPr id="12" name="Text 6"/>
          <p:cNvSpPr/>
          <p:nvPr/>
        </p:nvSpPr>
        <p:spPr>
          <a:xfrm>
            <a:off x="6352431" y="4155877"/>
            <a:ext cx="2295376" cy="169515"/>
          </a:xfrm>
          <a:prstGeom prst="rect">
            <a:avLst/>
          </a:prstGeom>
          <a:noFill/>
          <a:ln/>
        </p:spPr>
        <p:txBody>
          <a:bodyPr wrap="none" lIns="0" tIns="0" rIns="0" bIns="0" rtlCol="0" anchor="t"/>
          <a:lstStyle/>
          <a:p>
            <a:pPr algn="l" indent="0" marL="0">
              <a:lnSpc>
                <a:spcPct val="104000"/>
              </a:lnSpc>
              <a:buNone/>
            </a:pPr>
            <a:r>
              <a:rPr lang="en-US" sz="1050" dirty="0">
                <a:solidFill>
                  <a:srgbClr val="4C4C4C"/>
                </a:solidFill>
                <a:latin typeface="Noto Serif Medium" pitchFamily="34" charset="0"/>
                <a:ea typeface="Noto Serif Medium" pitchFamily="34" charset="-122"/>
                <a:cs typeface="Noto Serif Medium" pitchFamily="34" charset="-120"/>
              </a:rPr>
              <a:t>Actionable Insights</a:t>
            </a:r>
            <a:endParaRPr lang="en-US" sz="1050" dirty="0"/>
          </a:p>
        </p:txBody>
      </p:sp>
      <p:sp>
        <p:nvSpPr>
          <p:cNvPr id="13" name="Text 7"/>
          <p:cNvSpPr/>
          <p:nvPr/>
        </p:nvSpPr>
        <p:spPr>
          <a:xfrm>
            <a:off x="6352431" y="4375249"/>
            <a:ext cx="2295376" cy="306586"/>
          </a:xfrm>
          <a:prstGeom prst="rect">
            <a:avLst/>
          </a:prstGeom>
          <a:noFill/>
          <a:ln/>
        </p:spPr>
        <p:txBody>
          <a:bodyPr wrap="square" lIns="0" tIns="0" rIns="0" bIns="0" rtlCol="0" anchor="t">
            <a:normAutofit/>
          </a:bodyPr>
          <a:lstStyle/>
          <a:p>
            <a:pPr algn="l" indent="0" marL="0">
              <a:lnSpc>
                <a:spcPct val="118000"/>
              </a:lnSpc>
              <a:buNone/>
            </a:pPr>
            <a:r>
              <a:rPr lang="en-US" sz="850" dirty="0">
                <a:solidFill>
                  <a:srgbClr val="4C4C4C"/>
                </a:solidFill>
                <a:latin typeface="Noto Serif" pitchFamily="34" charset="0"/>
                <a:ea typeface="Noto Serif" pitchFamily="34" charset="-122"/>
                <a:cs typeface="Noto Serif" pitchFamily="34" charset="-120"/>
              </a:rPr>
              <a:t>Risk stratification and confidence scores support timely, evidence-based decisions.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389855"/>
            <a:ext cx="8151763" cy="221456"/>
          </a:xfrm>
          <a:prstGeom prst="rect">
            <a:avLst/>
          </a:prstGeom>
          <a:noFill/>
          <a:ln/>
        </p:spPr>
        <p:txBody>
          <a:bodyPr wrap="none" lIns="0" tIns="0" rIns="0" bIns="0" rtlCol="0" anchor="t"/>
          <a:lstStyle/>
          <a:p>
            <a:pPr algn="l" indent="0" marL="0">
              <a:lnSpc>
                <a:spcPct val="104000"/>
              </a:lnSpc>
              <a:buNone/>
            </a:pPr>
            <a:r>
              <a:rPr lang="en-US" sz="1350" dirty="0">
                <a:solidFill>
                  <a:srgbClr val="3A3A3A"/>
                </a:solidFill>
                <a:latin typeface="Noto Serif Medium" pitchFamily="34" charset="0"/>
                <a:ea typeface="Noto Serif Medium" pitchFamily="34" charset="-122"/>
                <a:cs typeface="Noto Serif Medium" pitchFamily="34" charset="-120"/>
              </a:rPr>
              <a:t>System Architecture</a:t>
            </a:r>
            <a:endParaRPr lang="en-US" sz="1350" dirty="0"/>
          </a:p>
        </p:txBody>
      </p:sp>
      <p:sp>
        <p:nvSpPr>
          <p:cNvPr id="3" name="Text 1"/>
          <p:cNvSpPr/>
          <p:nvPr/>
        </p:nvSpPr>
        <p:spPr>
          <a:xfrm>
            <a:off x="496119" y="682154"/>
            <a:ext cx="8608963" cy="85055"/>
          </a:xfrm>
          <a:prstGeom prst="rect">
            <a:avLst/>
          </a:prstGeom>
          <a:noFill/>
          <a:ln/>
        </p:spPr>
        <p:txBody>
          <a:bodyPr wrap="none" lIns="0" tIns="0" rIns="0" bIns="0" rtlCol="0" anchor="t"/>
          <a:lstStyle/>
          <a:p>
            <a:pPr algn="l" indent="0" marL="0">
              <a:lnSpc>
                <a:spcPct val="100000"/>
              </a:lnSpc>
              <a:buNone/>
            </a:pPr>
            <a:r>
              <a:rPr lang="en-US" sz="550" dirty="0">
                <a:solidFill>
                  <a:srgbClr val="4C4C4C"/>
                </a:solidFill>
                <a:latin typeface="Noto Serif" pitchFamily="34" charset="0"/>
                <a:ea typeface="Noto Serif" pitchFamily="34" charset="-122"/>
                <a:cs typeface="Noto Serif" pitchFamily="34" charset="-120"/>
              </a:rPr>
              <a:t>A layered, cloud-native architecture ensures security, scalability, and high availability across all hospital environments.</a:t>
            </a:r>
            <a:endParaRPr lang="en-US" sz="550" dirty="0"/>
          </a:p>
        </p:txBody>
      </p:sp>
      <p:pic>
        <p:nvPicPr>
          <p:cNvPr id="4" name="Image 0" descr="preencoded.png">    </p:cNvPr>
          <p:cNvPicPr>
            <a:picLocks noChangeAspect="1"/>
          </p:cNvPicPr>
          <p:nvPr/>
        </p:nvPicPr>
        <p:blipFill>
          <a:blip r:embed="rId1"/>
          <a:stretch>
            <a:fillRect/>
          </a:stretch>
        </p:blipFill>
        <p:spPr>
          <a:xfrm>
            <a:off x="496119" y="846832"/>
            <a:ext cx="3989412" cy="3989412"/>
          </a:xfrm>
          <a:prstGeom prst="rect">
            <a:avLst/>
          </a:prstGeom>
        </p:spPr>
      </p:pic>
      <p:sp>
        <p:nvSpPr>
          <p:cNvPr id="5" name="Text 2"/>
          <p:cNvSpPr/>
          <p:nvPr/>
        </p:nvSpPr>
        <p:spPr>
          <a:xfrm>
            <a:off x="4663232" y="2493913"/>
            <a:ext cx="3989412" cy="110728"/>
          </a:xfrm>
          <a:prstGeom prst="rect">
            <a:avLst/>
          </a:prstGeom>
          <a:noFill/>
          <a:ln/>
        </p:spPr>
        <p:txBody>
          <a:bodyPr wrap="none" lIns="0" tIns="0" rIns="0" bIns="0" rtlCol="0" anchor="t"/>
          <a:lstStyle/>
          <a:p>
            <a:pPr algn="l" indent="0" marL="0">
              <a:lnSpc>
                <a:spcPct val="104000"/>
              </a:lnSpc>
              <a:buNone/>
            </a:pPr>
            <a:r>
              <a:rPr lang="en-US" sz="650" dirty="0">
                <a:solidFill>
                  <a:srgbClr val="3A3A3A"/>
                </a:solidFill>
                <a:latin typeface="Noto Serif Medium" pitchFamily="34" charset="0"/>
                <a:ea typeface="Noto Serif Medium" pitchFamily="34" charset="-122"/>
                <a:cs typeface="Noto Serif Medium" pitchFamily="34" charset="-120"/>
              </a:rPr>
              <a:t>Key Modules</a:t>
            </a:r>
            <a:endParaRPr lang="en-US" sz="650" dirty="0"/>
          </a:p>
        </p:txBody>
      </p:sp>
      <p:sp>
        <p:nvSpPr>
          <p:cNvPr id="6" name="Text 3"/>
          <p:cNvSpPr/>
          <p:nvPr/>
        </p:nvSpPr>
        <p:spPr>
          <a:xfrm>
            <a:off x="4663232" y="2640062"/>
            <a:ext cx="3989412" cy="572095"/>
          </a:xfrm>
          <a:prstGeom prst="rect">
            <a:avLst/>
          </a:prstGeom>
          <a:noFill/>
          <a:ln/>
        </p:spPr>
        <p:txBody>
          <a:bodyPr wrap="square" lIns="0" tIns="0" rIns="0" bIns="0" rtlCol="0" anchor="t">
            <a:normAutofit/>
          </a:bodyPr>
          <a:lstStyle/>
          <a:p>
            <a:pPr algn="l" marL="111760" indent="-111760">
              <a:lnSpc>
                <a:spcPct val="100000"/>
              </a:lnSpc>
              <a:buSzPct val="100000"/>
              <a:buChar char="•"/>
            </a:pPr>
            <a:r>
              <a:rPr lang="en-US" sz="550" b="1" dirty="0">
                <a:solidFill>
                  <a:srgbClr val="4C4C4C"/>
                </a:solidFill>
                <a:latin typeface="Noto Serif Bold" pitchFamily="34" charset="0"/>
                <a:ea typeface="Noto Serif Bold" pitchFamily="34" charset="-122"/>
                <a:cs typeface="Noto Serif Bold" pitchFamily="34" charset="-120"/>
              </a:rPr>
              <a:t>User Authentication</a:t>
            </a:r>
            <a:pPr algn="l" marL="111760" indent="-111760">
              <a:lnSpc>
                <a:spcPct val="100000"/>
              </a:lnSpc>
              <a:buSzPct val="100000"/>
              <a:buChar char="•"/>
            </a:pPr>
            <a:r>
              <a:rPr lang="en-US" sz="550" dirty="0">
                <a:solidFill>
                  <a:srgbClr val="4C4C4C"/>
                </a:solidFill>
                <a:latin typeface="Noto Serif" pitchFamily="34" charset="0"/>
                <a:ea typeface="Noto Serif" pitchFamily="34" charset="-122"/>
                <a:cs typeface="Noto Serif" pitchFamily="34" charset="-120"/>
              </a:rPr>
              <a:t> — Role-based access control with audit logging</a:t>
            </a:r>
            <a:endParaRPr lang="en-US" sz="550" dirty="0"/>
          </a:p>
          <a:p>
            <a:pPr algn="l" marL="111760" indent="-111760">
              <a:lnSpc>
                <a:spcPct val="100000"/>
              </a:lnSpc>
              <a:buSzPct val="100000"/>
              <a:buChar char="•"/>
            </a:pPr>
            <a:r>
              <a:rPr lang="en-US" sz="550" b="1" dirty="0">
                <a:solidFill>
                  <a:srgbClr val="4C4C4C"/>
                </a:solidFill>
                <a:latin typeface="Noto Serif Bold" pitchFamily="34" charset="0"/>
                <a:ea typeface="Noto Serif Bold" pitchFamily="34" charset="-122"/>
                <a:cs typeface="Noto Serif Bold" pitchFamily="34" charset="-120"/>
              </a:rPr>
              <a:t>Clinical Data Management</a:t>
            </a:r>
            <a:pPr algn="l" marL="111760" indent="-111760">
              <a:lnSpc>
                <a:spcPct val="100000"/>
              </a:lnSpc>
              <a:buSzPct val="100000"/>
              <a:buChar char="•"/>
            </a:pPr>
            <a:r>
              <a:rPr lang="en-US" sz="550" dirty="0">
                <a:solidFill>
                  <a:srgbClr val="4C4C4C"/>
                </a:solidFill>
                <a:latin typeface="Noto Serif" pitchFamily="34" charset="0"/>
                <a:ea typeface="Noto Serif" pitchFamily="34" charset="-122"/>
                <a:cs typeface="Noto Serif" pitchFamily="34" charset="-120"/>
              </a:rPr>
              <a:t> — Unified patient record integration</a:t>
            </a:r>
            <a:endParaRPr lang="en-US" sz="550" dirty="0"/>
          </a:p>
          <a:p>
            <a:pPr algn="l" marL="111760" indent="-111760">
              <a:lnSpc>
                <a:spcPct val="100000"/>
              </a:lnSpc>
              <a:buSzPct val="100000"/>
              <a:buChar char="•"/>
            </a:pPr>
            <a:r>
              <a:rPr lang="en-US" sz="550" b="1" dirty="0">
                <a:solidFill>
                  <a:srgbClr val="4C4C4C"/>
                </a:solidFill>
                <a:latin typeface="Noto Serif Bold" pitchFamily="34" charset="0"/>
                <a:ea typeface="Noto Serif Bold" pitchFamily="34" charset="-122"/>
                <a:cs typeface="Noto Serif Bold" pitchFamily="34" charset="-120"/>
              </a:rPr>
              <a:t>Admission Prediction Engine</a:t>
            </a:r>
            <a:pPr algn="l" marL="111760" indent="-111760">
              <a:lnSpc>
                <a:spcPct val="100000"/>
              </a:lnSpc>
              <a:buSzPct val="100000"/>
              <a:buChar char="•"/>
            </a:pPr>
            <a:r>
              <a:rPr lang="en-US" sz="550" dirty="0">
                <a:solidFill>
                  <a:srgbClr val="4C4C4C"/>
                </a:solidFill>
                <a:latin typeface="Noto Serif" pitchFamily="34" charset="0"/>
                <a:ea typeface="Noto Serif" pitchFamily="34" charset="-122"/>
                <a:cs typeface="Noto Serif" pitchFamily="34" charset="-120"/>
              </a:rPr>
              <a:t> — Real-time ML inference pipeline</a:t>
            </a:r>
            <a:endParaRPr lang="en-US" sz="550" dirty="0"/>
          </a:p>
          <a:p>
            <a:pPr algn="l" marL="111760" indent="-111760">
              <a:lnSpc>
                <a:spcPct val="100000"/>
              </a:lnSpc>
              <a:buSzPct val="100000"/>
              <a:buChar char="•"/>
            </a:pPr>
            <a:r>
              <a:rPr lang="en-US" sz="550" b="1" dirty="0">
                <a:solidFill>
                  <a:srgbClr val="4C4C4C"/>
                </a:solidFill>
                <a:latin typeface="Noto Serif Bold" pitchFamily="34" charset="0"/>
                <a:ea typeface="Noto Serif Bold" pitchFamily="34" charset="-122"/>
                <a:cs typeface="Noto Serif Bold" pitchFamily="34" charset="-120"/>
              </a:rPr>
              <a:t>Analytics Dashboard</a:t>
            </a:r>
            <a:pPr algn="l" marL="111760" indent="-111760">
              <a:lnSpc>
                <a:spcPct val="100000"/>
              </a:lnSpc>
              <a:buSzPct val="100000"/>
              <a:buChar char="•"/>
            </a:pPr>
            <a:r>
              <a:rPr lang="en-US" sz="550" dirty="0">
                <a:solidFill>
                  <a:srgbClr val="4C4C4C"/>
                </a:solidFill>
                <a:latin typeface="Noto Serif" pitchFamily="34" charset="0"/>
                <a:ea typeface="Noto Serif" pitchFamily="34" charset="-122"/>
                <a:cs typeface="Noto Serif" pitchFamily="34" charset="-120"/>
              </a:rPr>
              <a:t> — Visual risk scores and trend reporting</a:t>
            </a:r>
            <a:endParaRPr lang="en-US" sz="550" dirty="0"/>
          </a:p>
          <a:p>
            <a:pPr algn="l" marL="111760" indent="-111760">
              <a:lnSpc>
                <a:spcPct val="100000"/>
              </a:lnSpc>
              <a:buSzPct val="100000"/>
              <a:buChar char="•"/>
            </a:pPr>
            <a:r>
              <a:rPr lang="en-US" sz="550" b="1" dirty="0">
                <a:solidFill>
                  <a:srgbClr val="4C4C4C"/>
                </a:solidFill>
                <a:latin typeface="Noto Serif Bold" pitchFamily="34" charset="0"/>
                <a:ea typeface="Noto Serif Bold" pitchFamily="34" charset="-122"/>
                <a:cs typeface="Noto Serif Bold" pitchFamily="34" charset="-120"/>
              </a:rPr>
              <a:t>Notification Service</a:t>
            </a:r>
            <a:pPr algn="l" marL="111760" indent="-111760">
              <a:lnSpc>
                <a:spcPct val="100000"/>
              </a:lnSpc>
              <a:buSzPct val="100000"/>
              <a:buChar char="•"/>
            </a:pPr>
            <a:r>
              <a:rPr lang="en-US" sz="550" dirty="0">
                <a:solidFill>
                  <a:srgbClr val="4C4C4C"/>
                </a:solidFill>
                <a:latin typeface="Noto Serif" pitchFamily="34" charset="0"/>
                <a:ea typeface="Noto Serif" pitchFamily="34" charset="-122"/>
                <a:cs typeface="Noto Serif" pitchFamily="34" charset="-120"/>
              </a:rPr>
              <a:t> — Alerts for high-risk admissions</a:t>
            </a:r>
            <a:endParaRPr lang="en-US" sz="550" dirty="0"/>
          </a:p>
          <a:p>
            <a:pPr algn="l" marL="111760" indent="-111760">
              <a:lnSpc>
                <a:spcPct val="100000"/>
              </a:lnSpc>
              <a:buSzPct val="100000"/>
              <a:buChar char="•"/>
            </a:pPr>
            <a:r>
              <a:rPr lang="en-US" sz="550" b="1" dirty="0">
                <a:solidFill>
                  <a:srgbClr val="4C4C4C"/>
                </a:solidFill>
                <a:latin typeface="Noto Serif Bold" pitchFamily="34" charset="0"/>
                <a:ea typeface="Noto Serif Bold" pitchFamily="34" charset="-122"/>
                <a:cs typeface="Noto Serif Bold" pitchFamily="34" charset="-120"/>
              </a:rPr>
              <a:t>Administration Panel</a:t>
            </a:r>
            <a:pPr algn="l" marL="111760" indent="-111760">
              <a:lnSpc>
                <a:spcPct val="100000"/>
              </a:lnSpc>
              <a:buSzPct val="100000"/>
              <a:buChar char="•"/>
            </a:pPr>
            <a:r>
              <a:rPr lang="en-US" sz="550" dirty="0">
                <a:solidFill>
                  <a:srgbClr val="4C4C4C"/>
                </a:solidFill>
                <a:latin typeface="Noto Serif" pitchFamily="34" charset="0"/>
                <a:ea typeface="Noto Serif" pitchFamily="34" charset="-122"/>
                <a:cs typeface="Noto Serif" pitchFamily="34" charset="-120"/>
              </a:rPr>
              <a:t> — System configuration and user management</a:t>
            </a:r>
            <a:endParaRPr lang="en-US" sz="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397594"/>
            <a:ext cx="8151763" cy="408384"/>
          </a:xfrm>
          <a:prstGeom prst="rect">
            <a:avLst/>
          </a:prstGeom>
          <a:noFill/>
          <a:ln/>
        </p:spPr>
        <p:txBody>
          <a:bodyPr wrap="none" lIns="0" tIns="0" rIns="0" bIns="0" rtlCol="0" anchor="t"/>
          <a:lstStyle/>
          <a:p>
            <a:pPr algn="l" indent="0" marL="0">
              <a:lnSpc>
                <a:spcPct val="104000"/>
              </a:lnSpc>
              <a:buNone/>
            </a:pPr>
            <a:r>
              <a:rPr lang="en-US" sz="2550" dirty="0">
                <a:solidFill>
                  <a:srgbClr val="3A3A3A"/>
                </a:solidFill>
                <a:latin typeface="Noto Serif Medium" pitchFamily="34" charset="0"/>
                <a:ea typeface="Noto Serif Medium" pitchFamily="34" charset="-122"/>
                <a:cs typeface="Noto Serif Medium" pitchFamily="34" charset="-120"/>
              </a:rPr>
              <a:t>End-to-End Clinical Workflow</a:t>
            </a:r>
            <a:endParaRPr lang="en-US" sz="2550" dirty="0"/>
          </a:p>
        </p:txBody>
      </p:sp>
      <p:pic>
        <p:nvPicPr>
          <p:cNvPr id="3" name="Image 0" descr="preencoded.png">    </p:cNvPr>
          <p:cNvPicPr>
            <a:picLocks noChangeAspect="1"/>
          </p:cNvPicPr>
          <p:nvPr/>
        </p:nvPicPr>
        <p:blipFill>
          <a:blip r:embed="rId1"/>
          <a:stretch>
            <a:fillRect/>
          </a:stretch>
        </p:blipFill>
        <p:spPr>
          <a:xfrm>
            <a:off x="626641" y="1046931"/>
            <a:ext cx="7890644" cy="2960936"/>
          </a:xfrm>
          <a:prstGeom prst="rect">
            <a:avLst/>
          </a:prstGeom>
        </p:spPr>
      </p:pic>
      <p:sp>
        <p:nvSpPr>
          <p:cNvPr id="4" name="Text 1"/>
          <p:cNvSpPr/>
          <p:nvPr/>
        </p:nvSpPr>
        <p:spPr>
          <a:xfrm>
            <a:off x="7002209" y="3174439"/>
            <a:ext cx="1190147" cy="458532"/>
          </a:xfrm>
          <a:prstGeom prst="rect">
            <a:avLst/>
          </a:prstGeom>
          <a:noFill/>
          <a:ln/>
        </p:spPr>
        <p:txBody>
          <a:bodyPr wrap="square" lIns="0" tIns="0" rIns="0" bIns="0" rtlCol="0" anchor="t">
            <a:normAutofit/>
          </a:bodyPr>
          <a:lstStyle/>
          <a:p>
            <a:pPr algn="ctr" indent="0" marL="0">
              <a:lnSpc>
                <a:spcPct val="104000"/>
              </a:lnSpc>
              <a:buNone/>
            </a:pPr>
            <a:r>
              <a:rPr lang="en-US" sz="1400" dirty="0">
                <a:solidFill>
                  <a:srgbClr val="4C4C4C"/>
                </a:solidFill>
                <a:latin typeface="Noto Serif Medium" pitchFamily="34" charset="0"/>
                <a:ea typeface="Noto Serif Medium" pitchFamily="34" charset="-122"/>
                <a:cs typeface="Noto Serif Medium" pitchFamily="34" charset="-120"/>
              </a:rPr>
              <a:t>Physician Review</a:t>
            </a:r>
            <a:endParaRPr lang="en-US" sz="1400" dirty="0"/>
          </a:p>
        </p:txBody>
      </p:sp>
      <p:sp>
        <p:nvSpPr>
          <p:cNvPr id="5" name="Text 2"/>
          <p:cNvSpPr/>
          <p:nvPr/>
        </p:nvSpPr>
        <p:spPr>
          <a:xfrm>
            <a:off x="5502299" y="3289072"/>
            <a:ext cx="1190146" cy="229266"/>
          </a:xfrm>
          <a:prstGeom prst="rect">
            <a:avLst/>
          </a:prstGeom>
          <a:noFill/>
          <a:ln/>
        </p:spPr>
        <p:txBody>
          <a:bodyPr wrap="none" lIns="0" tIns="0" rIns="0" bIns="0" rtlCol="0" anchor="t"/>
          <a:lstStyle/>
          <a:p>
            <a:pPr algn="ctr" indent="0" marL="0">
              <a:lnSpc>
                <a:spcPct val="104000"/>
              </a:lnSpc>
              <a:buNone/>
            </a:pPr>
            <a:r>
              <a:rPr lang="en-US" sz="1400" dirty="0">
                <a:solidFill>
                  <a:srgbClr val="4C4C4C"/>
                </a:solidFill>
                <a:latin typeface="Noto Serif Medium" pitchFamily="34" charset="0"/>
                <a:ea typeface="Noto Serif Medium" pitchFamily="34" charset="-122"/>
                <a:cs typeface="Noto Serif Medium" pitchFamily="34" charset="-120"/>
              </a:rPr>
              <a:t>Dashboard</a:t>
            </a:r>
            <a:endParaRPr lang="en-US" sz="1400" dirty="0"/>
          </a:p>
        </p:txBody>
      </p:sp>
      <p:sp>
        <p:nvSpPr>
          <p:cNvPr id="6" name="Text 3"/>
          <p:cNvSpPr/>
          <p:nvPr/>
        </p:nvSpPr>
        <p:spPr>
          <a:xfrm>
            <a:off x="4010540" y="3289072"/>
            <a:ext cx="1190146" cy="229266"/>
          </a:xfrm>
          <a:prstGeom prst="rect">
            <a:avLst/>
          </a:prstGeom>
          <a:noFill/>
          <a:ln/>
        </p:spPr>
        <p:txBody>
          <a:bodyPr wrap="none" lIns="0" tIns="0" rIns="0" bIns="0" rtlCol="0" anchor="t"/>
          <a:lstStyle/>
          <a:p>
            <a:pPr algn="ctr" indent="0" marL="0">
              <a:lnSpc>
                <a:spcPct val="104000"/>
              </a:lnSpc>
              <a:buNone/>
            </a:pPr>
            <a:r>
              <a:rPr lang="en-US" sz="1400" dirty="0">
                <a:solidFill>
                  <a:srgbClr val="4C4C4C"/>
                </a:solidFill>
                <a:latin typeface="Noto Serif Medium" pitchFamily="34" charset="0"/>
                <a:ea typeface="Noto Serif Medium" pitchFamily="34" charset="-122"/>
                <a:cs typeface="Noto Serif Medium" pitchFamily="34" charset="-120"/>
              </a:rPr>
              <a:t>Inference</a:t>
            </a:r>
            <a:endParaRPr lang="en-US" sz="1400" dirty="0"/>
          </a:p>
        </p:txBody>
      </p:sp>
      <p:sp>
        <p:nvSpPr>
          <p:cNvPr id="7" name="Text 4"/>
          <p:cNvSpPr/>
          <p:nvPr/>
        </p:nvSpPr>
        <p:spPr>
          <a:xfrm>
            <a:off x="2518781" y="3289072"/>
            <a:ext cx="1190146" cy="229266"/>
          </a:xfrm>
          <a:prstGeom prst="rect">
            <a:avLst/>
          </a:prstGeom>
          <a:noFill/>
          <a:ln/>
        </p:spPr>
        <p:txBody>
          <a:bodyPr wrap="none" lIns="0" tIns="0" rIns="0" bIns="0" rtlCol="0" anchor="t"/>
          <a:lstStyle/>
          <a:p>
            <a:pPr algn="ctr" indent="0" marL="0">
              <a:lnSpc>
                <a:spcPct val="104000"/>
              </a:lnSpc>
              <a:buNone/>
            </a:pPr>
            <a:r>
              <a:rPr lang="en-US" sz="1400" dirty="0">
                <a:solidFill>
                  <a:srgbClr val="4C4C4C"/>
                </a:solidFill>
                <a:latin typeface="Noto Serif Medium" pitchFamily="34" charset="0"/>
                <a:ea typeface="Noto Serif Medium" pitchFamily="34" charset="-122"/>
                <a:cs typeface="Noto Serif Medium" pitchFamily="34" charset="-120"/>
              </a:rPr>
              <a:t>Preprocess</a:t>
            </a:r>
            <a:endParaRPr lang="en-US" sz="1400" dirty="0"/>
          </a:p>
        </p:txBody>
      </p:sp>
      <p:sp>
        <p:nvSpPr>
          <p:cNvPr id="8" name="Text 5"/>
          <p:cNvSpPr/>
          <p:nvPr/>
        </p:nvSpPr>
        <p:spPr>
          <a:xfrm>
            <a:off x="994415" y="3289072"/>
            <a:ext cx="1190146" cy="229266"/>
          </a:xfrm>
          <a:prstGeom prst="rect">
            <a:avLst/>
          </a:prstGeom>
          <a:noFill/>
          <a:ln/>
        </p:spPr>
        <p:txBody>
          <a:bodyPr wrap="none" lIns="0" tIns="0" rIns="0" bIns="0" rtlCol="0" anchor="t"/>
          <a:lstStyle/>
          <a:p>
            <a:pPr algn="ctr" indent="0" marL="0">
              <a:lnSpc>
                <a:spcPct val="104000"/>
              </a:lnSpc>
              <a:buNone/>
            </a:pPr>
            <a:r>
              <a:rPr lang="en-US" sz="1400" dirty="0">
                <a:solidFill>
                  <a:srgbClr val="4C4C4C"/>
                </a:solidFill>
                <a:latin typeface="Noto Serif Medium" pitchFamily="34" charset="0"/>
                <a:ea typeface="Noto Serif Medium" pitchFamily="34" charset="-122"/>
                <a:cs typeface="Noto Serif Medium" pitchFamily="34" charset="-120"/>
              </a:rPr>
              <a:t>Registration</a:t>
            </a:r>
            <a:endParaRPr lang="en-US" sz="1400" dirty="0"/>
          </a:p>
        </p:txBody>
      </p:sp>
      <p:sp>
        <p:nvSpPr>
          <p:cNvPr id="9" name="Text 6"/>
          <p:cNvSpPr/>
          <p:nvPr/>
        </p:nvSpPr>
        <p:spPr>
          <a:xfrm>
            <a:off x="496119" y="4143375"/>
            <a:ext cx="8151763" cy="602531"/>
          </a:xfrm>
          <a:prstGeom prst="rect">
            <a:avLst/>
          </a:prstGeom>
          <a:noFill/>
          <a:ln/>
        </p:spPr>
        <p:txBody>
          <a:bodyPr wrap="square" lIns="0" tIns="0" rIns="0" bIns="0" rtlCol="0" anchor="t">
            <a:normAutofit/>
          </a:bodyPr>
          <a:lstStyle/>
          <a:p>
            <a:pPr algn="l" indent="0" marL="0">
              <a:lnSpc>
                <a:spcPct val="128000"/>
              </a:lnSpc>
              <a:buNone/>
            </a:pPr>
            <a:r>
              <a:rPr lang="en-US" sz="1000" dirty="0">
                <a:solidFill>
                  <a:srgbClr val="4C4C4C"/>
                </a:solidFill>
                <a:latin typeface="Noto Serif" pitchFamily="34" charset="0"/>
                <a:ea typeface="Noto Serif" pitchFamily="34" charset="-122"/>
                <a:cs typeface="Noto Serif" pitchFamily="34" charset="-120"/>
              </a:rPr>
              <a:t>The workflow begins at patient registration, where symptoms, vitals, and medical history are captured. Data is preprocessed and fed into the ML inference engine, which generates an admission risk score with a confidence interval. Results are visualised on the clinical dashboard for physician review, and outcomes are fed back to continuously retrain and improve model accuracy.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393576"/>
            <a:ext cx="8151763" cy="228451"/>
          </a:xfrm>
          <a:prstGeom prst="rect">
            <a:avLst/>
          </a:prstGeom>
          <a:noFill/>
          <a:ln/>
        </p:spPr>
        <p:txBody>
          <a:bodyPr wrap="none" lIns="0" tIns="0" rIns="0" bIns="0" rtlCol="0" anchor="t"/>
          <a:lstStyle/>
          <a:p>
            <a:pPr algn="l" indent="0" marL="0">
              <a:lnSpc>
                <a:spcPct val="104000"/>
              </a:lnSpc>
              <a:buNone/>
            </a:pPr>
            <a:r>
              <a:rPr lang="en-US" sz="1400" dirty="0">
                <a:solidFill>
                  <a:srgbClr val="3A3A3A"/>
                </a:solidFill>
                <a:latin typeface="Noto Serif Medium" pitchFamily="34" charset="0"/>
                <a:ea typeface="Noto Serif Medium" pitchFamily="34" charset="-122"/>
                <a:cs typeface="Noto Serif Medium" pitchFamily="34" charset="-120"/>
              </a:rPr>
              <a:t>Machine Learning Pipeline</a:t>
            </a:r>
            <a:endParaRPr lang="en-US" sz="1400" dirty="0"/>
          </a:p>
        </p:txBody>
      </p:sp>
      <p:sp>
        <p:nvSpPr>
          <p:cNvPr id="3" name="Text 1"/>
          <p:cNvSpPr/>
          <p:nvPr/>
        </p:nvSpPr>
        <p:spPr>
          <a:xfrm>
            <a:off x="496119" y="2151683"/>
            <a:ext cx="3986733" cy="114226"/>
          </a:xfrm>
          <a:prstGeom prst="rect">
            <a:avLst/>
          </a:prstGeom>
          <a:noFill/>
          <a:ln/>
        </p:spPr>
        <p:txBody>
          <a:bodyPr wrap="none" lIns="0" tIns="0" rIns="0" bIns="0" rtlCol="0" anchor="t"/>
          <a:lstStyle/>
          <a:p>
            <a:pPr algn="l" indent="0" marL="0">
              <a:lnSpc>
                <a:spcPct val="104000"/>
              </a:lnSpc>
              <a:buNone/>
            </a:pPr>
            <a:r>
              <a:rPr lang="en-US" sz="700" dirty="0">
                <a:solidFill>
                  <a:srgbClr val="3A3A3A"/>
                </a:solidFill>
                <a:latin typeface="Noto Serif Medium" pitchFamily="34" charset="0"/>
                <a:ea typeface="Noto Serif Medium" pitchFamily="34" charset="-122"/>
                <a:cs typeface="Noto Serif Medium" pitchFamily="34" charset="-120"/>
              </a:rPr>
              <a:t>Algorithm Selection</a:t>
            </a:r>
            <a:endParaRPr lang="en-US" sz="700" dirty="0"/>
          </a:p>
        </p:txBody>
      </p:sp>
      <p:sp>
        <p:nvSpPr>
          <p:cNvPr id="4" name="Text 2"/>
          <p:cNvSpPr/>
          <p:nvPr/>
        </p:nvSpPr>
        <p:spPr>
          <a:xfrm>
            <a:off x="496119" y="2303562"/>
            <a:ext cx="4443933" cy="88553"/>
          </a:xfrm>
          <a:prstGeom prst="rect">
            <a:avLst/>
          </a:prstGeom>
          <a:noFill/>
          <a:ln/>
        </p:spPr>
        <p:txBody>
          <a:bodyPr wrap="none" lIns="0" tIns="0" rIns="0" bIns="0" rtlCol="0" anchor="t"/>
          <a:lstStyle/>
          <a:p>
            <a:pPr algn="l" indent="0" marL="0">
              <a:lnSpc>
                <a:spcPct val="101000"/>
              </a:lnSpc>
              <a:buNone/>
            </a:pPr>
            <a:r>
              <a:rPr lang="en-US" sz="550" dirty="0">
                <a:solidFill>
                  <a:srgbClr val="4C4C4C"/>
                </a:solidFill>
                <a:latin typeface="Noto Serif" pitchFamily="34" charset="0"/>
                <a:ea typeface="Noto Serif" pitchFamily="34" charset="-122"/>
                <a:cs typeface="Noto Serif" pitchFamily="34" charset="-120"/>
              </a:rPr>
              <a:t>Multiple classification algorithms are evaluated and ensembled for optimal predictive performance:</a:t>
            </a:r>
            <a:endParaRPr lang="en-US" sz="550" dirty="0"/>
          </a:p>
        </p:txBody>
      </p:sp>
      <p:sp>
        <p:nvSpPr>
          <p:cNvPr id="5" name="Text 3"/>
          <p:cNvSpPr/>
          <p:nvPr/>
        </p:nvSpPr>
        <p:spPr>
          <a:xfrm>
            <a:off x="496119" y="2425973"/>
            <a:ext cx="3986733" cy="393725"/>
          </a:xfrm>
          <a:prstGeom prst="rect">
            <a:avLst/>
          </a:prstGeom>
          <a:noFill/>
          <a:ln/>
        </p:spPr>
        <p:txBody>
          <a:bodyPr wrap="square" lIns="0" tIns="0" rIns="0" bIns="0" rtlCol="0" anchor="t">
            <a:normAutofit/>
          </a:bodyPr>
          <a:lstStyle/>
          <a:p>
            <a:pPr algn="l" marL="111760" indent="-111760">
              <a:lnSpc>
                <a:spcPct val="101000"/>
              </a:lnSpc>
              <a:buSzPct val="100000"/>
              <a:buChar char="•"/>
            </a:pPr>
            <a:r>
              <a:rPr lang="en-US" sz="550" dirty="0">
                <a:solidFill>
                  <a:srgbClr val="4C4C4C"/>
                </a:solidFill>
                <a:latin typeface="Noto Serif" pitchFamily="34" charset="0"/>
                <a:ea typeface="Noto Serif" pitchFamily="34" charset="-122"/>
                <a:cs typeface="Noto Serif" pitchFamily="34" charset="-120"/>
              </a:rPr>
              <a:t>Logistic Regression &amp; Decision Trees (baseline)</a:t>
            </a:r>
            <a:endParaRPr lang="en-US" sz="550" dirty="0"/>
          </a:p>
          <a:p>
            <a:pPr algn="l" marL="111760" indent="-111760">
              <a:lnSpc>
                <a:spcPct val="101000"/>
              </a:lnSpc>
              <a:buSzPct val="100000"/>
              <a:buChar char="•"/>
            </a:pPr>
            <a:r>
              <a:rPr lang="en-US" sz="550" dirty="0">
                <a:solidFill>
                  <a:srgbClr val="4C4C4C"/>
                </a:solidFill>
                <a:latin typeface="Noto Serif" pitchFamily="34" charset="0"/>
                <a:ea typeface="Noto Serif" pitchFamily="34" charset="-122"/>
                <a:cs typeface="Noto Serif" pitchFamily="34" charset="-120"/>
              </a:rPr>
              <a:t>Random Forest &amp; Gradient Boosting</a:t>
            </a:r>
            <a:endParaRPr lang="en-US" sz="550" dirty="0"/>
          </a:p>
          <a:p>
            <a:pPr algn="l" marL="111760" indent="-111760">
              <a:lnSpc>
                <a:spcPct val="101000"/>
              </a:lnSpc>
              <a:buSzPct val="100000"/>
              <a:buChar char="•"/>
            </a:pPr>
            <a:r>
              <a:rPr lang="en-US" sz="550" dirty="0">
                <a:solidFill>
                  <a:srgbClr val="4C4C4C"/>
                </a:solidFill>
                <a:latin typeface="Noto Serif" pitchFamily="34" charset="0"/>
                <a:ea typeface="Noto Serif" pitchFamily="34" charset="-122"/>
                <a:cs typeface="Noto Serif" pitchFamily="34" charset="-120"/>
              </a:rPr>
              <a:t>XGBoost &amp; Support Vector Machines</a:t>
            </a:r>
            <a:endParaRPr lang="en-US" sz="550" dirty="0"/>
          </a:p>
          <a:p>
            <a:pPr algn="l" marL="111760" indent="-111760">
              <a:lnSpc>
                <a:spcPct val="101000"/>
              </a:lnSpc>
              <a:buSzPct val="100000"/>
              <a:buChar char="•"/>
            </a:pPr>
            <a:r>
              <a:rPr lang="en-US" sz="550" dirty="0">
                <a:solidFill>
                  <a:srgbClr val="4C4C4C"/>
                </a:solidFill>
                <a:latin typeface="Noto Serif" pitchFamily="34" charset="0"/>
                <a:ea typeface="Noto Serif" pitchFamily="34" charset="-122"/>
                <a:cs typeface="Noto Serif" pitchFamily="34" charset="-120"/>
              </a:rPr>
              <a:t>Neural Networks &amp; Ensemble Methods</a:t>
            </a:r>
            <a:endParaRPr lang="en-US" sz="550" dirty="0"/>
          </a:p>
        </p:txBody>
      </p:sp>
      <p:sp>
        <p:nvSpPr>
          <p:cNvPr id="6" name="Text 4"/>
          <p:cNvSpPr/>
          <p:nvPr/>
        </p:nvSpPr>
        <p:spPr>
          <a:xfrm>
            <a:off x="496119" y="2857351"/>
            <a:ext cx="3986733" cy="114226"/>
          </a:xfrm>
          <a:prstGeom prst="rect">
            <a:avLst/>
          </a:prstGeom>
          <a:noFill/>
          <a:ln/>
        </p:spPr>
        <p:txBody>
          <a:bodyPr wrap="none" lIns="0" tIns="0" rIns="0" bIns="0" rtlCol="0" anchor="t"/>
          <a:lstStyle/>
          <a:p>
            <a:pPr algn="l" indent="0" marL="0">
              <a:lnSpc>
                <a:spcPct val="104000"/>
              </a:lnSpc>
              <a:buNone/>
            </a:pPr>
            <a:r>
              <a:rPr lang="en-US" sz="700" dirty="0">
                <a:solidFill>
                  <a:srgbClr val="3A3A3A"/>
                </a:solidFill>
                <a:latin typeface="Noto Serif Medium" pitchFamily="34" charset="0"/>
                <a:ea typeface="Noto Serif Medium" pitchFamily="34" charset="-122"/>
                <a:cs typeface="Noto Serif Medium" pitchFamily="34" charset="-120"/>
              </a:rPr>
              <a:t>Evaluation Metrics</a:t>
            </a:r>
            <a:endParaRPr lang="en-US" sz="700" dirty="0"/>
          </a:p>
        </p:txBody>
      </p:sp>
      <p:sp>
        <p:nvSpPr>
          <p:cNvPr id="7" name="Text 5"/>
          <p:cNvSpPr/>
          <p:nvPr/>
        </p:nvSpPr>
        <p:spPr>
          <a:xfrm>
            <a:off x="496119" y="3009230"/>
            <a:ext cx="3986733" cy="292001"/>
          </a:xfrm>
          <a:prstGeom prst="rect">
            <a:avLst/>
          </a:prstGeom>
          <a:noFill/>
          <a:ln/>
        </p:spPr>
        <p:txBody>
          <a:bodyPr wrap="square" lIns="0" tIns="0" rIns="0" bIns="0" rtlCol="0" anchor="t">
            <a:normAutofit/>
          </a:bodyPr>
          <a:lstStyle/>
          <a:p>
            <a:pPr algn="l" marL="111760" indent="-111760">
              <a:lnSpc>
                <a:spcPct val="101000"/>
              </a:lnSpc>
              <a:buSzPct val="100000"/>
              <a:buChar char="•"/>
            </a:pPr>
            <a:r>
              <a:rPr lang="en-US" sz="550" dirty="0">
                <a:solidFill>
                  <a:srgbClr val="4C4C4C"/>
                </a:solidFill>
                <a:latin typeface="Noto Serif" pitchFamily="34" charset="0"/>
                <a:ea typeface="Noto Serif" pitchFamily="34" charset="-122"/>
                <a:cs typeface="Noto Serif" pitchFamily="34" charset="-120"/>
              </a:rPr>
              <a:t>Accuracy, Precision, Recall, F1-Score</a:t>
            </a:r>
            <a:endParaRPr lang="en-US" sz="550" dirty="0"/>
          </a:p>
          <a:p>
            <a:pPr algn="l" marL="111760" indent="-111760">
              <a:lnSpc>
                <a:spcPct val="101000"/>
              </a:lnSpc>
              <a:buSzPct val="100000"/>
              <a:buChar char="•"/>
            </a:pPr>
            <a:r>
              <a:rPr lang="en-US" sz="550" dirty="0">
                <a:solidFill>
                  <a:srgbClr val="4C4C4C"/>
                </a:solidFill>
                <a:latin typeface="Noto Serif" pitchFamily="34" charset="0"/>
                <a:ea typeface="Noto Serif" pitchFamily="34" charset="-122"/>
                <a:cs typeface="Noto Serif" pitchFamily="34" charset="-120"/>
              </a:rPr>
              <a:t>ROC-AUC, Sensitivity, Specificity</a:t>
            </a:r>
            <a:endParaRPr lang="en-US" sz="550" dirty="0"/>
          </a:p>
          <a:p>
            <a:pPr algn="l" marL="111760" indent="-111760">
              <a:lnSpc>
                <a:spcPct val="101000"/>
              </a:lnSpc>
              <a:buSzPct val="100000"/>
              <a:buChar char="•"/>
            </a:pPr>
            <a:r>
              <a:rPr lang="en-US" sz="550" dirty="0">
                <a:solidFill>
                  <a:srgbClr val="4C4C4C"/>
                </a:solidFill>
                <a:latin typeface="Noto Serif" pitchFamily="34" charset="0"/>
                <a:ea typeface="Noto Serif" pitchFamily="34" charset="-122"/>
                <a:cs typeface="Noto Serif" pitchFamily="34" charset="-120"/>
              </a:rPr>
              <a:t>Prediction Confidence &amp; Calibration</a:t>
            </a:r>
            <a:endParaRPr lang="en-US" sz="550" dirty="0"/>
          </a:p>
        </p:txBody>
      </p:sp>
      <p:pic>
        <p:nvPicPr>
          <p:cNvPr id="8" name="Image 0" descr="preencoded.png">    </p:cNvPr>
          <p:cNvPicPr>
            <a:picLocks noChangeAspect="1"/>
          </p:cNvPicPr>
          <p:nvPr/>
        </p:nvPicPr>
        <p:blipFill>
          <a:blip r:embed="rId1"/>
          <a:stretch>
            <a:fillRect/>
          </a:stretch>
        </p:blipFill>
        <p:spPr>
          <a:xfrm>
            <a:off x="4665911" y="720849"/>
            <a:ext cx="3986733" cy="398673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413147"/>
            <a:ext cx="8151763" cy="408384"/>
          </a:xfrm>
          <a:prstGeom prst="rect">
            <a:avLst/>
          </a:prstGeom>
          <a:noFill/>
          <a:ln/>
        </p:spPr>
        <p:txBody>
          <a:bodyPr wrap="none" lIns="0" tIns="0" rIns="0" bIns="0" rtlCol="0" anchor="t"/>
          <a:lstStyle/>
          <a:p>
            <a:pPr algn="l" indent="0" marL="0">
              <a:lnSpc>
                <a:spcPct val="104000"/>
              </a:lnSpc>
              <a:buNone/>
            </a:pPr>
            <a:r>
              <a:rPr lang="en-US" sz="2550" dirty="0">
                <a:solidFill>
                  <a:srgbClr val="3A3A3A"/>
                </a:solidFill>
                <a:latin typeface="Noto Serif Medium" pitchFamily="34" charset="0"/>
                <a:ea typeface="Noto Serif Medium" pitchFamily="34" charset="-122"/>
                <a:cs typeface="Noto Serif Medium" pitchFamily="34" charset="-120"/>
              </a:rPr>
              <a:t>Model Performance &amp; Evaluation</a:t>
            </a:r>
            <a:endParaRPr lang="en-US" sz="2550" dirty="0"/>
          </a:p>
        </p:txBody>
      </p:sp>
      <p:sp>
        <p:nvSpPr>
          <p:cNvPr id="3" name="Text 1"/>
          <p:cNvSpPr/>
          <p:nvPr/>
        </p:nvSpPr>
        <p:spPr>
          <a:xfrm>
            <a:off x="496119" y="1062484"/>
            <a:ext cx="8608963" cy="200844"/>
          </a:xfrm>
          <a:prstGeom prst="rect">
            <a:avLst/>
          </a:prstGeom>
          <a:noFill/>
          <a:ln/>
        </p:spPr>
        <p:txBody>
          <a:bodyPr wrap="none" lIns="0" tIns="0" rIns="0" bIns="0" rtlCol="0" anchor="t"/>
          <a:lstStyle/>
          <a:p>
            <a:pPr algn="l" indent="0" marL="0">
              <a:lnSpc>
                <a:spcPct val="128000"/>
              </a:lnSpc>
              <a:buNone/>
            </a:pPr>
            <a:r>
              <a:rPr lang="en-US" sz="1000" dirty="0">
                <a:solidFill>
                  <a:srgbClr val="4C4C4C"/>
                </a:solidFill>
                <a:latin typeface="Noto Serif" pitchFamily="34" charset="0"/>
                <a:ea typeface="Noto Serif" pitchFamily="34" charset="-122"/>
                <a:cs typeface="Noto Serif" pitchFamily="34" charset="-120"/>
              </a:rPr>
              <a:t>Rigorous validation ensures the prediction engine meets clinical-grade reliability standards before and after deployment.</a:t>
            </a:r>
            <a:endParaRPr lang="en-US" sz="1000" dirty="0"/>
          </a:p>
        </p:txBody>
      </p:sp>
      <p:sp>
        <p:nvSpPr>
          <p:cNvPr id="4" name="Text 2"/>
          <p:cNvSpPr/>
          <p:nvPr/>
        </p:nvSpPr>
        <p:spPr>
          <a:xfrm>
            <a:off x="496119" y="1464171"/>
            <a:ext cx="4000574" cy="431304"/>
          </a:xfrm>
          <a:prstGeom prst="rect">
            <a:avLst/>
          </a:prstGeom>
          <a:noFill/>
          <a:ln/>
        </p:spPr>
        <p:txBody>
          <a:bodyPr wrap="none" lIns="0" tIns="0" rIns="0" bIns="0" rtlCol="0" anchor="t"/>
          <a:lstStyle/>
          <a:p>
            <a:pPr algn="ctr" indent="0" marL="0">
              <a:lnSpc>
                <a:spcPct val="83000"/>
              </a:lnSpc>
              <a:buNone/>
            </a:pPr>
            <a:r>
              <a:rPr lang="en-US" sz="3350" dirty="0">
                <a:solidFill>
                  <a:srgbClr val="4C4C4C"/>
                </a:solidFill>
                <a:latin typeface="Noto Serif Medium" pitchFamily="34" charset="0"/>
                <a:ea typeface="Noto Serif Medium" pitchFamily="34" charset="-122"/>
                <a:cs typeface="Noto Serif Medium" pitchFamily="34" charset="-120"/>
              </a:rPr>
              <a:t>94%</a:t>
            </a:r>
            <a:endParaRPr lang="en-US" sz="3350" dirty="0"/>
          </a:p>
        </p:txBody>
      </p:sp>
      <p:sp>
        <p:nvSpPr>
          <p:cNvPr id="5" name="Text 3"/>
          <p:cNvSpPr/>
          <p:nvPr/>
        </p:nvSpPr>
        <p:spPr>
          <a:xfrm>
            <a:off x="496119" y="2051149"/>
            <a:ext cx="4000574" cy="204118"/>
          </a:xfrm>
          <a:prstGeom prst="rect">
            <a:avLst/>
          </a:prstGeom>
          <a:noFill/>
          <a:ln/>
        </p:spPr>
        <p:txBody>
          <a:bodyPr wrap="none" lIns="0" tIns="0" rIns="0" bIns="0" rtlCol="0" anchor="t"/>
          <a:lstStyle/>
          <a:p>
            <a:pPr algn="ctr" indent="0" marL="0">
              <a:lnSpc>
                <a:spcPct val="104000"/>
              </a:lnSpc>
              <a:buNone/>
            </a:pPr>
            <a:r>
              <a:rPr lang="en-US" sz="1250" dirty="0">
                <a:solidFill>
                  <a:srgbClr val="4C4C4C"/>
                </a:solidFill>
                <a:latin typeface="Noto Serif Medium" pitchFamily="34" charset="0"/>
                <a:ea typeface="Noto Serif Medium" pitchFamily="34" charset="-122"/>
                <a:cs typeface="Noto Serif Medium" pitchFamily="34" charset="-120"/>
              </a:rPr>
              <a:t>Prediction Accuracy</a:t>
            </a:r>
            <a:endParaRPr lang="en-US" sz="1250" dirty="0"/>
          </a:p>
        </p:txBody>
      </p:sp>
      <p:sp>
        <p:nvSpPr>
          <p:cNvPr id="6" name="Text 4"/>
          <p:cNvSpPr/>
          <p:nvPr/>
        </p:nvSpPr>
        <p:spPr>
          <a:xfrm>
            <a:off x="496119" y="2327523"/>
            <a:ext cx="4000574" cy="200844"/>
          </a:xfrm>
          <a:prstGeom prst="rect">
            <a:avLst/>
          </a:prstGeom>
          <a:noFill/>
          <a:ln/>
        </p:spPr>
        <p:txBody>
          <a:bodyPr wrap="none" lIns="0" tIns="0" rIns="0" bIns="0" rtlCol="0" anchor="t"/>
          <a:lstStyle/>
          <a:p>
            <a:pPr algn="ctr" indent="0" marL="0">
              <a:lnSpc>
                <a:spcPct val="128000"/>
              </a:lnSpc>
              <a:buNone/>
            </a:pPr>
            <a:r>
              <a:rPr lang="en-US" sz="1000" dirty="0">
                <a:solidFill>
                  <a:srgbClr val="4C4C4C"/>
                </a:solidFill>
                <a:latin typeface="Noto Serif" pitchFamily="34" charset="0"/>
                <a:ea typeface="Noto Serif" pitchFamily="34" charset="-122"/>
                <a:cs typeface="Noto Serif" pitchFamily="34" charset="-120"/>
              </a:rPr>
              <a:t>Validated on held-out clinical test datasets</a:t>
            </a:r>
            <a:endParaRPr lang="en-US" sz="1000" dirty="0"/>
          </a:p>
        </p:txBody>
      </p:sp>
      <p:sp>
        <p:nvSpPr>
          <p:cNvPr id="7" name="Text 5"/>
          <p:cNvSpPr/>
          <p:nvPr/>
        </p:nvSpPr>
        <p:spPr>
          <a:xfrm>
            <a:off x="4647233" y="1464171"/>
            <a:ext cx="4000649" cy="431304"/>
          </a:xfrm>
          <a:prstGeom prst="rect">
            <a:avLst/>
          </a:prstGeom>
          <a:noFill/>
          <a:ln/>
        </p:spPr>
        <p:txBody>
          <a:bodyPr wrap="none" lIns="0" tIns="0" rIns="0" bIns="0" rtlCol="0" anchor="t"/>
          <a:lstStyle/>
          <a:p>
            <a:pPr algn="ctr" indent="0" marL="0">
              <a:lnSpc>
                <a:spcPct val="83000"/>
              </a:lnSpc>
              <a:buNone/>
            </a:pPr>
            <a:r>
              <a:rPr lang="en-US" sz="3350" dirty="0">
                <a:solidFill>
                  <a:srgbClr val="4C4C4C"/>
                </a:solidFill>
                <a:latin typeface="Noto Serif Medium" pitchFamily="34" charset="0"/>
                <a:ea typeface="Noto Serif Medium" pitchFamily="34" charset="-122"/>
                <a:cs typeface="Noto Serif Medium" pitchFamily="34" charset="-120"/>
              </a:rPr>
              <a:t>0.97</a:t>
            </a:r>
            <a:endParaRPr lang="en-US" sz="3350" dirty="0"/>
          </a:p>
        </p:txBody>
      </p:sp>
      <p:sp>
        <p:nvSpPr>
          <p:cNvPr id="8" name="Text 6"/>
          <p:cNvSpPr/>
          <p:nvPr/>
        </p:nvSpPr>
        <p:spPr>
          <a:xfrm>
            <a:off x="4647233" y="2051149"/>
            <a:ext cx="4000649" cy="204118"/>
          </a:xfrm>
          <a:prstGeom prst="rect">
            <a:avLst/>
          </a:prstGeom>
          <a:noFill/>
          <a:ln/>
        </p:spPr>
        <p:txBody>
          <a:bodyPr wrap="none" lIns="0" tIns="0" rIns="0" bIns="0" rtlCol="0" anchor="t"/>
          <a:lstStyle/>
          <a:p>
            <a:pPr algn="ctr" indent="0" marL="0">
              <a:lnSpc>
                <a:spcPct val="104000"/>
              </a:lnSpc>
              <a:buNone/>
            </a:pPr>
            <a:r>
              <a:rPr lang="en-US" sz="1250" dirty="0">
                <a:solidFill>
                  <a:srgbClr val="4C4C4C"/>
                </a:solidFill>
                <a:latin typeface="Noto Serif Medium" pitchFamily="34" charset="0"/>
                <a:ea typeface="Noto Serif Medium" pitchFamily="34" charset="-122"/>
                <a:cs typeface="Noto Serif Medium" pitchFamily="34" charset="-120"/>
              </a:rPr>
              <a:t>ROC-AUC Score</a:t>
            </a:r>
            <a:endParaRPr lang="en-US" sz="1250" dirty="0"/>
          </a:p>
        </p:txBody>
      </p:sp>
      <p:sp>
        <p:nvSpPr>
          <p:cNvPr id="9" name="Text 7"/>
          <p:cNvSpPr/>
          <p:nvPr/>
        </p:nvSpPr>
        <p:spPr>
          <a:xfrm>
            <a:off x="4647233" y="2327523"/>
            <a:ext cx="4000649" cy="200844"/>
          </a:xfrm>
          <a:prstGeom prst="rect">
            <a:avLst/>
          </a:prstGeom>
          <a:noFill/>
          <a:ln/>
        </p:spPr>
        <p:txBody>
          <a:bodyPr wrap="none" lIns="0" tIns="0" rIns="0" bIns="0" rtlCol="0" anchor="t"/>
          <a:lstStyle/>
          <a:p>
            <a:pPr algn="ctr" indent="0" marL="0">
              <a:lnSpc>
                <a:spcPct val="128000"/>
              </a:lnSpc>
              <a:buNone/>
            </a:pPr>
            <a:r>
              <a:rPr lang="en-US" sz="1000" dirty="0">
                <a:solidFill>
                  <a:srgbClr val="4C4C4C"/>
                </a:solidFill>
                <a:latin typeface="Noto Serif" pitchFamily="34" charset="0"/>
                <a:ea typeface="Noto Serif" pitchFamily="34" charset="-122"/>
                <a:cs typeface="Noto Serif" pitchFamily="34" charset="-120"/>
              </a:rPr>
              <a:t>Strong discriminative power for admission classification</a:t>
            </a:r>
            <a:endParaRPr lang="en-US" sz="1000" dirty="0"/>
          </a:p>
        </p:txBody>
      </p:sp>
      <p:sp>
        <p:nvSpPr>
          <p:cNvPr id="10" name="Text 8"/>
          <p:cNvSpPr/>
          <p:nvPr/>
        </p:nvSpPr>
        <p:spPr>
          <a:xfrm>
            <a:off x="496119" y="2834655"/>
            <a:ext cx="4000574" cy="431304"/>
          </a:xfrm>
          <a:prstGeom prst="rect">
            <a:avLst/>
          </a:prstGeom>
          <a:noFill/>
          <a:ln/>
        </p:spPr>
        <p:txBody>
          <a:bodyPr wrap="none" lIns="0" tIns="0" rIns="0" bIns="0" rtlCol="0" anchor="t"/>
          <a:lstStyle/>
          <a:p>
            <a:pPr algn="ctr" indent="0" marL="0">
              <a:lnSpc>
                <a:spcPct val="83000"/>
              </a:lnSpc>
              <a:buNone/>
            </a:pPr>
            <a:r>
              <a:rPr lang="en-US" sz="3350" dirty="0">
                <a:solidFill>
                  <a:srgbClr val="4C4C4C"/>
                </a:solidFill>
                <a:latin typeface="Noto Serif Medium" pitchFamily="34" charset="0"/>
                <a:ea typeface="Noto Serif Medium" pitchFamily="34" charset="-122"/>
                <a:cs typeface="Noto Serif Medium" pitchFamily="34" charset="-120"/>
              </a:rPr>
              <a:t>&lt;2s</a:t>
            </a:r>
            <a:endParaRPr lang="en-US" sz="3350" dirty="0"/>
          </a:p>
        </p:txBody>
      </p:sp>
      <p:sp>
        <p:nvSpPr>
          <p:cNvPr id="11" name="Text 9"/>
          <p:cNvSpPr/>
          <p:nvPr/>
        </p:nvSpPr>
        <p:spPr>
          <a:xfrm>
            <a:off x="496119" y="3421633"/>
            <a:ext cx="4000574" cy="204118"/>
          </a:xfrm>
          <a:prstGeom prst="rect">
            <a:avLst/>
          </a:prstGeom>
          <a:noFill/>
          <a:ln/>
        </p:spPr>
        <p:txBody>
          <a:bodyPr wrap="none" lIns="0" tIns="0" rIns="0" bIns="0" rtlCol="0" anchor="t"/>
          <a:lstStyle/>
          <a:p>
            <a:pPr algn="ctr" indent="0" marL="0">
              <a:lnSpc>
                <a:spcPct val="104000"/>
              </a:lnSpc>
              <a:buNone/>
            </a:pPr>
            <a:r>
              <a:rPr lang="en-US" sz="1250" dirty="0">
                <a:solidFill>
                  <a:srgbClr val="4C4C4C"/>
                </a:solidFill>
                <a:latin typeface="Noto Serif Medium" pitchFamily="34" charset="0"/>
                <a:ea typeface="Noto Serif Medium" pitchFamily="34" charset="-122"/>
                <a:cs typeface="Noto Serif Medium" pitchFamily="34" charset="-120"/>
              </a:rPr>
              <a:t>Inference Time</a:t>
            </a:r>
            <a:endParaRPr lang="en-US" sz="1250" dirty="0"/>
          </a:p>
        </p:txBody>
      </p:sp>
      <p:sp>
        <p:nvSpPr>
          <p:cNvPr id="12" name="Text 10"/>
          <p:cNvSpPr/>
          <p:nvPr/>
        </p:nvSpPr>
        <p:spPr>
          <a:xfrm>
            <a:off x="496119" y="3698007"/>
            <a:ext cx="4000574" cy="200844"/>
          </a:xfrm>
          <a:prstGeom prst="rect">
            <a:avLst/>
          </a:prstGeom>
          <a:noFill/>
          <a:ln/>
        </p:spPr>
        <p:txBody>
          <a:bodyPr wrap="none" lIns="0" tIns="0" rIns="0" bIns="0" rtlCol="0" anchor="t"/>
          <a:lstStyle/>
          <a:p>
            <a:pPr algn="ctr" indent="0" marL="0">
              <a:lnSpc>
                <a:spcPct val="128000"/>
              </a:lnSpc>
              <a:buNone/>
            </a:pPr>
            <a:r>
              <a:rPr lang="en-US" sz="1000" dirty="0">
                <a:solidFill>
                  <a:srgbClr val="4C4C4C"/>
                </a:solidFill>
                <a:latin typeface="Noto Serif" pitchFamily="34" charset="0"/>
                <a:ea typeface="Noto Serif" pitchFamily="34" charset="-122"/>
                <a:cs typeface="Noto Serif" pitchFamily="34" charset="-120"/>
              </a:rPr>
              <a:t>Real-time prediction suitable for emergency settings</a:t>
            </a:r>
            <a:endParaRPr lang="en-US" sz="1000" dirty="0"/>
          </a:p>
        </p:txBody>
      </p:sp>
      <p:sp>
        <p:nvSpPr>
          <p:cNvPr id="13" name="Text 11"/>
          <p:cNvSpPr/>
          <p:nvPr/>
        </p:nvSpPr>
        <p:spPr>
          <a:xfrm>
            <a:off x="4647233" y="2834655"/>
            <a:ext cx="4000649" cy="431304"/>
          </a:xfrm>
          <a:prstGeom prst="rect">
            <a:avLst/>
          </a:prstGeom>
          <a:noFill/>
          <a:ln/>
        </p:spPr>
        <p:txBody>
          <a:bodyPr wrap="none" lIns="0" tIns="0" rIns="0" bIns="0" rtlCol="0" anchor="t"/>
          <a:lstStyle/>
          <a:p>
            <a:pPr algn="ctr" indent="0" marL="0">
              <a:lnSpc>
                <a:spcPct val="83000"/>
              </a:lnSpc>
              <a:buNone/>
            </a:pPr>
            <a:r>
              <a:rPr lang="en-US" sz="3350" dirty="0">
                <a:solidFill>
                  <a:srgbClr val="4C4C4C"/>
                </a:solidFill>
                <a:latin typeface="Noto Serif Medium" pitchFamily="34" charset="0"/>
                <a:ea typeface="Noto Serif Medium" pitchFamily="34" charset="-122"/>
                <a:cs typeface="Noto Serif Medium" pitchFamily="34" charset="-120"/>
              </a:rPr>
              <a:t>99.9%</a:t>
            </a:r>
            <a:endParaRPr lang="en-US" sz="3350" dirty="0"/>
          </a:p>
        </p:txBody>
      </p:sp>
      <p:sp>
        <p:nvSpPr>
          <p:cNvPr id="14" name="Text 12"/>
          <p:cNvSpPr/>
          <p:nvPr/>
        </p:nvSpPr>
        <p:spPr>
          <a:xfrm>
            <a:off x="4647233" y="3421633"/>
            <a:ext cx="4000649" cy="204118"/>
          </a:xfrm>
          <a:prstGeom prst="rect">
            <a:avLst/>
          </a:prstGeom>
          <a:noFill/>
          <a:ln/>
        </p:spPr>
        <p:txBody>
          <a:bodyPr wrap="none" lIns="0" tIns="0" rIns="0" bIns="0" rtlCol="0" anchor="t"/>
          <a:lstStyle/>
          <a:p>
            <a:pPr algn="ctr" indent="0" marL="0">
              <a:lnSpc>
                <a:spcPct val="104000"/>
              </a:lnSpc>
              <a:buNone/>
            </a:pPr>
            <a:r>
              <a:rPr lang="en-US" sz="1250" dirty="0">
                <a:solidFill>
                  <a:srgbClr val="4C4C4C"/>
                </a:solidFill>
                <a:latin typeface="Noto Serif Medium" pitchFamily="34" charset="0"/>
                <a:ea typeface="Noto Serif Medium" pitchFamily="34" charset="-122"/>
                <a:cs typeface="Noto Serif Medium" pitchFamily="34" charset="-120"/>
              </a:rPr>
              <a:t>System Availability</a:t>
            </a:r>
            <a:endParaRPr lang="en-US" sz="1250" dirty="0"/>
          </a:p>
        </p:txBody>
      </p:sp>
      <p:sp>
        <p:nvSpPr>
          <p:cNvPr id="15" name="Text 13"/>
          <p:cNvSpPr/>
          <p:nvPr/>
        </p:nvSpPr>
        <p:spPr>
          <a:xfrm>
            <a:off x="4647233" y="3698007"/>
            <a:ext cx="4000649" cy="200844"/>
          </a:xfrm>
          <a:prstGeom prst="rect">
            <a:avLst/>
          </a:prstGeom>
          <a:noFill/>
          <a:ln/>
        </p:spPr>
        <p:txBody>
          <a:bodyPr wrap="none" lIns="0" tIns="0" rIns="0" bIns="0" rtlCol="0" anchor="t"/>
          <a:lstStyle/>
          <a:p>
            <a:pPr algn="ctr" indent="0" marL="0">
              <a:lnSpc>
                <a:spcPct val="128000"/>
              </a:lnSpc>
              <a:buNone/>
            </a:pPr>
            <a:r>
              <a:rPr lang="en-US" sz="1000" dirty="0">
                <a:solidFill>
                  <a:srgbClr val="4C4C4C"/>
                </a:solidFill>
                <a:latin typeface="Noto Serif" pitchFamily="34" charset="0"/>
                <a:ea typeface="Noto Serif" pitchFamily="34" charset="-122"/>
                <a:cs typeface="Noto Serif" pitchFamily="34" charset="-120"/>
              </a:rPr>
              <a:t>Cloud-native deployment with high-availability architecture</a:t>
            </a:r>
            <a:endParaRPr lang="en-US" sz="1000" dirty="0"/>
          </a:p>
        </p:txBody>
      </p:sp>
      <p:sp>
        <p:nvSpPr>
          <p:cNvPr id="16" name="Shape 14"/>
          <p:cNvSpPr/>
          <p:nvPr/>
        </p:nvSpPr>
        <p:spPr>
          <a:xfrm>
            <a:off x="496119" y="4034358"/>
            <a:ext cx="8151763" cy="695920"/>
          </a:xfrm>
          <a:prstGeom prst="roundRect">
            <a:avLst>
              <a:gd name="adj" fmla="val 7887"/>
            </a:avLst>
          </a:prstGeom>
          <a:solidFill>
            <a:srgbClr val="E8E6E3"/>
          </a:solidFill>
          <a:ln/>
        </p:spPr>
      </p:sp>
      <p:pic>
        <p:nvPicPr>
          <p:cNvPr id="17" name="Image 0" descr="preencoded.png">    </p:cNvPr>
          <p:cNvPicPr>
            <a:picLocks noChangeAspect="1"/>
          </p:cNvPicPr>
          <p:nvPr/>
        </p:nvPicPr>
        <p:blipFill>
          <a:blip r:embed="rId1"/>
          <a:stretch>
            <a:fillRect/>
          </a:stretch>
        </p:blipFill>
        <p:spPr>
          <a:xfrm>
            <a:off x="626790" y="4221435"/>
            <a:ext cx="163339" cy="130671"/>
          </a:xfrm>
          <a:prstGeom prst="rect">
            <a:avLst/>
          </a:prstGeom>
        </p:spPr>
      </p:pic>
      <p:sp>
        <p:nvSpPr>
          <p:cNvPr id="18" name="Text 15"/>
          <p:cNvSpPr/>
          <p:nvPr/>
        </p:nvSpPr>
        <p:spPr>
          <a:xfrm>
            <a:off x="920800" y="4187503"/>
            <a:ext cx="7596411" cy="401687"/>
          </a:xfrm>
          <a:prstGeom prst="rect">
            <a:avLst/>
          </a:prstGeom>
          <a:noFill/>
          <a:ln/>
        </p:spPr>
        <p:txBody>
          <a:bodyPr wrap="square" lIns="0" tIns="0" rIns="0" bIns="0" rtlCol="0" anchor="t">
            <a:normAutofit/>
          </a:bodyPr>
          <a:lstStyle/>
          <a:p>
            <a:pPr algn="l" indent="0" marL="0">
              <a:lnSpc>
                <a:spcPct val="128000"/>
              </a:lnSpc>
              <a:buNone/>
            </a:pPr>
            <a:r>
              <a:rPr lang="en-US" sz="1000" dirty="0">
                <a:solidFill>
                  <a:srgbClr val="000000"/>
                </a:solidFill>
                <a:latin typeface="Noto Serif" pitchFamily="34" charset="0"/>
                <a:ea typeface="Noto Serif" pitchFamily="34" charset="-122"/>
                <a:cs typeface="Noto Serif" pitchFamily="34" charset="-120"/>
              </a:rPr>
              <a:t>Performance benchmarks are illustrative targets. Actual metrics depend on dataset quality, model configuration, and deployment environment.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428402"/>
            <a:ext cx="4722763" cy="373782"/>
          </a:xfrm>
          <a:prstGeom prst="rect">
            <a:avLst/>
          </a:prstGeom>
          <a:noFill/>
          <a:ln/>
        </p:spPr>
        <p:txBody>
          <a:bodyPr wrap="none" lIns="0" tIns="0" rIns="0" bIns="0" rtlCol="0" anchor="t"/>
          <a:lstStyle/>
          <a:p>
            <a:pPr algn="l" indent="0" marL="0">
              <a:lnSpc>
                <a:spcPct val="104000"/>
              </a:lnSpc>
              <a:buNone/>
            </a:pPr>
            <a:r>
              <a:rPr lang="en-US" sz="2350" dirty="0">
                <a:solidFill>
                  <a:srgbClr val="3A3A3A"/>
                </a:solidFill>
                <a:latin typeface="Noto Serif Medium" pitchFamily="34" charset="0"/>
                <a:ea typeface="Noto Serif Medium" pitchFamily="34" charset="-122"/>
                <a:cs typeface="Noto Serif Medium" pitchFamily="34" charset="-120"/>
              </a:rPr>
              <a:t>Technology Stack</a:t>
            </a:r>
            <a:endParaRPr lang="en-US" sz="235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25119" y="953542"/>
            <a:ext cx="239167" cy="239167"/>
          </a:xfrm>
          <a:prstGeom prst="rect">
            <a:avLst/>
          </a:prstGeom>
        </p:spPr>
      </p:pic>
      <p:sp>
        <p:nvSpPr>
          <p:cNvPr id="5" name="Text 1"/>
          <p:cNvSpPr/>
          <p:nvPr/>
        </p:nvSpPr>
        <p:spPr>
          <a:xfrm>
            <a:off x="3925119" y="1318840"/>
            <a:ext cx="4722763" cy="186854"/>
          </a:xfrm>
          <a:prstGeom prst="rect">
            <a:avLst/>
          </a:prstGeom>
          <a:noFill/>
          <a:ln/>
        </p:spPr>
        <p:txBody>
          <a:bodyPr wrap="none" lIns="0" tIns="0" rIns="0" bIns="0" rtlCol="0" anchor="t"/>
          <a:lstStyle/>
          <a:p>
            <a:pPr algn="l" indent="0" marL="0">
              <a:lnSpc>
                <a:spcPct val="104000"/>
              </a:lnSpc>
              <a:buNone/>
            </a:pPr>
            <a:r>
              <a:rPr lang="en-US" sz="1150" dirty="0">
                <a:solidFill>
                  <a:srgbClr val="4C4C4C"/>
                </a:solidFill>
                <a:latin typeface="Noto Serif Medium" pitchFamily="34" charset="0"/>
                <a:ea typeface="Noto Serif Medium" pitchFamily="34" charset="-122"/>
                <a:cs typeface="Noto Serif Medium" pitchFamily="34" charset="-120"/>
              </a:rPr>
              <a:t>Frontend</a:t>
            </a:r>
            <a:endParaRPr lang="en-US" sz="1150" dirty="0"/>
          </a:p>
        </p:txBody>
      </p:sp>
      <p:sp>
        <p:nvSpPr>
          <p:cNvPr id="6" name="Text 2"/>
          <p:cNvSpPr/>
          <p:nvPr/>
        </p:nvSpPr>
        <p:spPr>
          <a:xfrm>
            <a:off x="3925119" y="1566193"/>
            <a:ext cx="4722763" cy="176361"/>
          </a:xfrm>
          <a:prstGeom prst="rect">
            <a:avLst/>
          </a:prstGeom>
          <a:noFill/>
          <a:ln/>
        </p:spPr>
        <p:txBody>
          <a:bodyPr wrap="none" lIns="0" tIns="0" rIns="0" bIns="0" rtlCol="0" anchor="t"/>
          <a:lstStyle/>
          <a:p>
            <a:pPr algn="l" indent="0" marL="0">
              <a:lnSpc>
                <a:spcPct val="123000"/>
              </a:lnSpc>
              <a:buNone/>
            </a:pPr>
            <a:r>
              <a:rPr lang="en-US" sz="900" dirty="0">
                <a:solidFill>
                  <a:srgbClr val="4C4C4C"/>
                </a:solidFill>
                <a:latin typeface="Noto Serif" pitchFamily="34" charset="0"/>
                <a:ea typeface="Noto Serif" pitchFamily="34" charset="-122"/>
                <a:cs typeface="Noto Serif" pitchFamily="34" charset="-120"/>
              </a:rPr>
              <a:t>React.js / Angular, D3.js for visualisation, responsive mobile-first design</a:t>
            </a:r>
            <a:endParaRPr lang="en-US" sz="90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25119" y="1944365"/>
            <a:ext cx="239167" cy="239167"/>
          </a:xfrm>
          <a:prstGeom prst="rect">
            <a:avLst/>
          </a:prstGeom>
        </p:spPr>
      </p:pic>
      <p:sp>
        <p:nvSpPr>
          <p:cNvPr id="8" name="Text 3"/>
          <p:cNvSpPr/>
          <p:nvPr/>
        </p:nvSpPr>
        <p:spPr>
          <a:xfrm>
            <a:off x="3925119" y="2309664"/>
            <a:ext cx="4722763" cy="186854"/>
          </a:xfrm>
          <a:prstGeom prst="rect">
            <a:avLst/>
          </a:prstGeom>
          <a:noFill/>
          <a:ln/>
        </p:spPr>
        <p:txBody>
          <a:bodyPr wrap="none" lIns="0" tIns="0" rIns="0" bIns="0" rtlCol="0" anchor="t"/>
          <a:lstStyle/>
          <a:p>
            <a:pPr algn="l" indent="0" marL="0">
              <a:lnSpc>
                <a:spcPct val="104000"/>
              </a:lnSpc>
              <a:buNone/>
            </a:pPr>
            <a:r>
              <a:rPr lang="en-US" sz="1150" dirty="0">
                <a:solidFill>
                  <a:srgbClr val="4C4C4C"/>
                </a:solidFill>
                <a:latin typeface="Noto Serif Medium" pitchFamily="34" charset="0"/>
                <a:ea typeface="Noto Serif Medium" pitchFamily="34" charset="-122"/>
                <a:cs typeface="Noto Serif Medium" pitchFamily="34" charset="-120"/>
              </a:rPr>
              <a:t>Backend &amp; APIs</a:t>
            </a:r>
            <a:endParaRPr lang="en-US" sz="1150" dirty="0"/>
          </a:p>
        </p:txBody>
      </p:sp>
      <p:sp>
        <p:nvSpPr>
          <p:cNvPr id="9" name="Text 4"/>
          <p:cNvSpPr/>
          <p:nvPr/>
        </p:nvSpPr>
        <p:spPr>
          <a:xfrm>
            <a:off x="3925119" y="2557016"/>
            <a:ext cx="4722763" cy="176361"/>
          </a:xfrm>
          <a:prstGeom prst="rect">
            <a:avLst/>
          </a:prstGeom>
          <a:noFill/>
          <a:ln/>
        </p:spPr>
        <p:txBody>
          <a:bodyPr wrap="none" lIns="0" tIns="0" rIns="0" bIns="0" rtlCol="0" anchor="t"/>
          <a:lstStyle/>
          <a:p>
            <a:pPr algn="l" indent="0" marL="0">
              <a:lnSpc>
                <a:spcPct val="123000"/>
              </a:lnSpc>
              <a:buNone/>
            </a:pPr>
            <a:r>
              <a:rPr lang="en-US" sz="900" dirty="0">
                <a:solidFill>
                  <a:srgbClr val="4C4C4C"/>
                </a:solidFill>
                <a:latin typeface="Noto Serif" pitchFamily="34" charset="0"/>
                <a:ea typeface="Noto Serif" pitchFamily="34" charset="-122"/>
                <a:cs typeface="Noto Serif" pitchFamily="34" charset="-120"/>
              </a:rPr>
              <a:t>Python Flask / FastAPI, RESTful APIs, OAuth2 authentication, JWT tokens</a:t>
            </a:r>
            <a:endParaRPr lang="en-US" sz="90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925119" y="2935188"/>
            <a:ext cx="239167" cy="239167"/>
          </a:xfrm>
          <a:prstGeom prst="rect">
            <a:avLst/>
          </a:prstGeom>
        </p:spPr>
      </p:pic>
      <p:sp>
        <p:nvSpPr>
          <p:cNvPr id="11" name="Text 5"/>
          <p:cNvSpPr/>
          <p:nvPr/>
        </p:nvSpPr>
        <p:spPr>
          <a:xfrm>
            <a:off x="3925119" y="3300487"/>
            <a:ext cx="4722763" cy="186854"/>
          </a:xfrm>
          <a:prstGeom prst="rect">
            <a:avLst/>
          </a:prstGeom>
          <a:noFill/>
          <a:ln/>
        </p:spPr>
        <p:txBody>
          <a:bodyPr wrap="none" lIns="0" tIns="0" rIns="0" bIns="0" rtlCol="0" anchor="t"/>
          <a:lstStyle/>
          <a:p>
            <a:pPr algn="l" indent="0" marL="0">
              <a:lnSpc>
                <a:spcPct val="104000"/>
              </a:lnSpc>
              <a:buNone/>
            </a:pPr>
            <a:r>
              <a:rPr lang="en-US" sz="1150" dirty="0">
                <a:solidFill>
                  <a:srgbClr val="4C4C4C"/>
                </a:solidFill>
                <a:latin typeface="Noto Serif Medium" pitchFamily="34" charset="0"/>
                <a:ea typeface="Noto Serif Medium" pitchFamily="34" charset="-122"/>
                <a:cs typeface="Noto Serif Medium" pitchFamily="34" charset="-120"/>
              </a:rPr>
              <a:t>Data Layer</a:t>
            </a:r>
            <a:endParaRPr lang="en-US" sz="1150" dirty="0"/>
          </a:p>
        </p:txBody>
      </p:sp>
      <p:sp>
        <p:nvSpPr>
          <p:cNvPr id="12" name="Text 6"/>
          <p:cNvSpPr/>
          <p:nvPr/>
        </p:nvSpPr>
        <p:spPr>
          <a:xfrm>
            <a:off x="3925119" y="3547839"/>
            <a:ext cx="4722763" cy="176361"/>
          </a:xfrm>
          <a:prstGeom prst="rect">
            <a:avLst/>
          </a:prstGeom>
          <a:noFill/>
          <a:ln/>
        </p:spPr>
        <p:txBody>
          <a:bodyPr wrap="none" lIns="0" tIns="0" rIns="0" bIns="0" rtlCol="0" anchor="t"/>
          <a:lstStyle/>
          <a:p>
            <a:pPr algn="l" indent="0" marL="0">
              <a:lnSpc>
                <a:spcPct val="123000"/>
              </a:lnSpc>
              <a:buNone/>
            </a:pPr>
            <a:r>
              <a:rPr lang="en-US" sz="900" dirty="0">
                <a:solidFill>
                  <a:srgbClr val="4C4C4C"/>
                </a:solidFill>
                <a:latin typeface="Noto Serif" pitchFamily="34" charset="0"/>
                <a:ea typeface="Noto Serif" pitchFamily="34" charset="-122"/>
                <a:cs typeface="Noto Serif" pitchFamily="34" charset="-120"/>
              </a:rPr>
              <a:t>PostgreSQL, Redis cache, HL7/FHIR healthcare data standards</a:t>
            </a:r>
            <a:endParaRPr lang="en-US" sz="900" dirty="0"/>
          </a:p>
        </p:txBody>
      </p:sp>
      <p:pic>
        <p:nvPicPr>
          <p:cNvPr id="13"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925119" y="3926012"/>
            <a:ext cx="239167" cy="239167"/>
          </a:xfrm>
          <a:prstGeom prst="rect">
            <a:avLst/>
          </a:prstGeom>
        </p:spPr>
      </p:pic>
      <p:sp>
        <p:nvSpPr>
          <p:cNvPr id="14" name="Text 7"/>
          <p:cNvSpPr/>
          <p:nvPr/>
        </p:nvSpPr>
        <p:spPr>
          <a:xfrm>
            <a:off x="3925119" y="4291310"/>
            <a:ext cx="4722763" cy="186854"/>
          </a:xfrm>
          <a:prstGeom prst="rect">
            <a:avLst/>
          </a:prstGeom>
          <a:noFill/>
          <a:ln/>
        </p:spPr>
        <p:txBody>
          <a:bodyPr wrap="none" lIns="0" tIns="0" rIns="0" bIns="0" rtlCol="0" anchor="t"/>
          <a:lstStyle/>
          <a:p>
            <a:pPr algn="l" indent="0" marL="0">
              <a:lnSpc>
                <a:spcPct val="104000"/>
              </a:lnSpc>
              <a:buNone/>
            </a:pPr>
            <a:r>
              <a:rPr lang="en-US" sz="1150" dirty="0">
                <a:solidFill>
                  <a:srgbClr val="4C4C4C"/>
                </a:solidFill>
                <a:latin typeface="Noto Serif Medium" pitchFamily="34" charset="0"/>
                <a:ea typeface="Noto Serif Medium" pitchFamily="34" charset="-122"/>
                <a:cs typeface="Noto Serif Medium" pitchFamily="34" charset="-120"/>
              </a:rPr>
              <a:t>ML &amp; Cloud</a:t>
            </a:r>
            <a:endParaRPr lang="en-US" sz="1150" dirty="0"/>
          </a:p>
        </p:txBody>
      </p:sp>
      <p:sp>
        <p:nvSpPr>
          <p:cNvPr id="15" name="Text 8"/>
          <p:cNvSpPr/>
          <p:nvPr/>
        </p:nvSpPr>
        <p:spPr>
          <a:xfrm>
            <a:off x="3925119" y="4538663"/>
            <a:ext cx="4722763" cy="176361"/>
          </a:xfrm>
          <a:prstGeom prst="rect">
            <a:avLst/>
          </a:prstGeom>
          <a:noFill/>
          <a:ln/>
        </p:spPr>
        <p:txBody>
          <a:bodyPr wrap="none" lIns="0" tIns="0" rIns="0" bIns="0" rtlCol="0" anchor="t"/>
          <a:lstStyle/>
          <a:p>
            <a:pPr algn="l" indent="0" marL="0">
              <a:lnSpc>
                <a:spcPct val="123000"/>
              </a:lnSpc>
              <a:buNone/>
            </a:pPr>
            <a:r>
              <a:rPr lang="en-US" sz="900" dirty="0">
                <a:solidFill>
                  <a:srgbClr val="4C4C4C"/>
                </a:solidFill>
                <a:latin typeface="Noto Serif" pitchFamily="34" charset="0"/>
                <a:ea typeface="Noto Serif" pitchFamily="34" charset="-122"/>
                <a:cs typeface="Noto Serif" pitchFamily="34" charset="-120"/>
              </a:rPr>
              <a:t>Scikit-learn, XGBoost, TensorFlow, AWS / Azure, Docker, Kubernetes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1187128"/>
            <a:ext cx="8151763" cy="442987"/>
          </a:xfrm>
          <a:prstGeom prst="rect">
            <a:avLst/>
          </a:prstGeom>
          <a:noFill/>
          <a:ln/>
        </p:spPr>
        <p:txBody>
          <a:bodyPr wrap="none" lIns="0" tIns="0" rIns="0" bIns="0" rtlCol="0" anchor="t"/>
          <a:lstStyle/>
          <a:p>
            <a:pPr algn="l" indent="0" marL="0">
              <a:lnSpc>
                <a:spcPct val="104000"/>
              </a:lnSpc>
              <a:buNone/>
            </a:pPr>
            <a:r>
              <a:rPr lang="en-US" sz="2750" dirty="0">
                <a:solidFill>
                  <a:srgbClr val="3A3A3A"/>
                </a:solidFill>
                <a:latin typeface="Noto Serif Medium" pitchFamily="34" charset="0"/>
                <a:ea typeface="Noto Serif Medium" pitchFamily="34" charset="-122"/>
                <a:cs typeface="Noto Serif Medium" pitchFamily="34" charset="-120"/>
              </a:rPr>
              <a:t>Key Advantages &amp; Real-World Applications</a:t>
            </a:r>
            <a:endParaRPr lang="en-US" sz="2750" dirty="0"/>
          </a:p>
        </p:txBody>
      </p:sp>
      <p:sp>
        <p:nvSpPr>
          <p:cNvPr id="3" name="Text 1"/>
          <p:cNvSpPr/>
          <p:nvPr/>
        </p:nvSpPr>
        <p:spPr>
          <a:xfrm>
            <a:off x="496119" y="1984474"/>
            <a:ext cx="3902943" cy="221456"/>
          </a:xfrm>
          <a:prstGeom prst="rect">
            <a:avLst/>
          </a:prstGeom>
          <a:noFill/>
          <a:ln/>
        </p:spPr>
        <p:txBody>
          <a:bodyPr wrap="none" lIns="0" tIns="0" rIns="0" bIns="0" rtlCol="0" anchor="t"/>
          <a:lstStyle/>
          <a:p>
            <a:pPr algn="l" indent="0" marL="0">
              <a:lnSpc>
                <a:spcPct val="104000"/>
              </a:lnSpc>
              <a:buNone/>
            </a:pPr>
            <a:r>
              <a:rPr lang="en-US" sz="1350" dirty="0">
                <a:solidFill>
                  <a:srgbClr val="3A3A3A"/>
                </a:solidFill>
                <a:latin typeface="Noto Serif Medium" pitchFamily="34" charset="0"/>
                <a:ea typeface="Noto Serif Medium" pitchFamily="34" charset="-122"/>
                <a:cs typeface="Noto Serif Medium" pitchFamily="34" charset="-120"/>
              </a:rPr>
              <a:t>Clinical &amp; Operational Benefits</a:t>
            </a:r>
            <a:endParaRPr lang="en-US" sz="1350" dirty="0"/>
          </a:p>
        </p:txBody>
      </p:sp>
      <p:sp>
        <p:nvSpPr>
          <p:cNvPr id="4" name="Text 2"/>
          <p:cNvSpPr/>
          <p:nvPr/>
        </p:nvSpPr>
        <p:spPr>
          <a:xfrm>
            <a:off x="496119" y="2347689"/>
            <a:ext cx="3902943" cy="1559123"/>
          </a:xfrm>
          <a:prstGeom prst="rect">
            <a:avLst/>
          </a:prstGeom>
          <a:noFill/>
          <a:ln/>
        </p:spPr>
        <p:txBody>
          <a:bodyPr wrap="square" lIns="0" tIns="0" rIns="0" bIns="0" rtlCol="0" anchor="t">
            <a:normAutofit/>
          </a:bodyPr>
          <a:lstStyle/>
          <a:p>
            <a:pPr algn="l" marL="223520" indent="-223520">
              <a:lnSpc>
                <a:spcPct val="133000"/>
              </a:lnSpc>
              <a:buSzPct val="100000"/>
              <a:buChar char="•"/>
            </a:pPr>
            <a:r>
              <a:rPr lang="en-US" sz="1100" dirty="0">
                <a:solidFill>
                  <a:srgbClr val="4C4C4C"/>
                </a:solidFill>
                <a:latin typeface="Noto Serif" pitchFamily="34" charset="0"/>
                <a:ea typeface="Noto Serif" pitchFamily="34" charset="-122"/>
                <a:cs typeface="Noto Serif" pitchFamily="34" charset="-120"/>
              </a:rPr>
              <a:t>Early identification of patients requiring admission</a:t>
            </a:r>
            <a:endParaRPr lang="en-US" sz="1100" dirty="0"/>
          </a:p>
          <a:p>
            <a:pPr algn="l" marL="223520" indent="-223520">
              <a:lnSpc>
                <a:spcPct val="133000"/>
              </a:lnSpc>
              <a:buSzPct val="100000"/>
              <a:buChar char="•"/>
            </a:pPr>
            <a:r>
              <a:rPr lang="en-US" sz="1100" dirty="0">
                <a:solidFill>
                  <a:srgbClr val="4C4C4C"/>
                </a:solidFill>
                <a:latin typeface="Noto Serif" pitchFamily="34" charset="0"/>
                <a:ea typeface="Noto Serif" pitchFamily="34" charset="-122"/>
                <a:cs typeface="Noto Serif" pitchFamily="34" charset="-120"/>
              </a:rPr>
              <a:t>Optimised bed allocation and resource utilisation</a:t>
            </a:r>
            <a:endParaRPr lang="en-US" sz="1100" dirty="0"/>
          </a:p>
          <a:p>
            <a:pPr algn="l" marL="223520" indent="-223520">
              <a:lnSpc>
                <a:spcPct val="133000"/>
              </a:lnSpc>
              <a:buSzPct val="100000"/>
              <a:buChar char="•"/>
            </a:pPr>
            <a:r>
              <a:rPr lang="en-US" sz="1100" dirty="0">
                <a:solidFill>
                  <a:srgbClr val="4C4C4C"/>
                </a:solidFill>
                <a:latin typeface="Noto Serif" pitchFamily="34" charset="0"/>
                <a:ea typeface="Noto Serif" pitchFamily="34" charset="-122"/>
                <a:cs typeface="Noto Serif" pitchFamily="34" charset="-120"/>
              </a:rPr>
              <a:t>Faster triage and enhanced treatment planning</a:t>
            </a:r>
            <a:endParaRPr lang="en-US" sz="1100" dirty="0"/>
          </a:p>
          <a:p>
            <a:pPr algn="l" marL="223520" indent="-223520">
              <a:lnSpc>
                <a:spcPct val="133000"/>
              </a:lnSpc>
              <a:buSzPct val="100000"/>
              <a:buChar char="•"/>
            </a:pPr>
            <a:r>
              <a:rPr lang="en-US" sz="1100" dirty="0">
                <a:solidFill>
                  <a:srgbClr val="4C4C4C"/>
                </a:solidFill>
                <a:latin typeface="Noto Serif" pitchFamily="34" charset="0"/>
                <a:ea typeface="Noto Serif" pitchFamily="34" charset="-122"/>
                <a:cs typeface="Noto Serif" pitchFamily="34" charset="-120"/>
              </a:rPr>
              <a:t>Reduced administrative workload for clinical staff</a:t>
            </a:r>
            <a:endParaRPr lang="en-US" sz="1100" dirty="0"/>
          </a:p>
          <a:p>
            <a:pPr algn="l" marL="223520" indent="-223520">
              <a:lnSpc>
                <a:spcPct val="133000"/>
              </a:lnSpc>
              <a:buSzPct val="100000"/>
              <a:buChar char="•"/>
            </a:pPr>
            <a:r>
              <a:rPr lang="en-US" sz="1100" dirty="0">
                <a:solidFill>
                  <a:srgbClr val="4C4C4C"/>
                </a:solidFill>
                <a:latin typeface="Noto Serif" pitchFamily="34" charset="0"/>
                <a:ea typeface="Noto Serif" pitchFamily="34" charset="-122"/>
                <a:cs typeface="Noto Serif" pitchFamily="34" charset="-120"/>
              </a:rPr>
              <a:t>Centralised analytics for data-driven hospital management</a:t>
            </a:r>
            <a:endParaRPr lang="en-US" sz="1100" dirty="0"/>
          </a:p>
        </p:txBody>
      </p:sp>
      <p:sp>
        <p:nvSpPr>
          <p:cNvPr id="5" name="Text 3"/>
          <p:cNvSpPr/>
          <p:nvPr/>
        </p:nvSpPr>
        <p:spPr>
          <a:xfrm>
            <a:off x="4749701" y="1984474"/>
            <a:ext cx="3902943" cy="221456"/>
          </a:xfrm>
          <a:prstGeom prst="rect">
            <a:avLst/>
          </a:prstGeom>
          <a:noFill/>
          <a:ln/>
        </p:spPr>
        <p:txBody>
          <a:bodyPr wrap="none" lIns="0" tIns="0" rIns="0" bIns="0" rtlCol="0" anchor="t"/>
          <a:lstStyle/>
          <a:p>
            <a:pPr algn="l" indent="0" marL="0">
              <a:lnSpc>
                <a:spcPct val="104000"/>
              </a:lnSpc>
              <a:buNone/>
            </a:pPr>
            <a:r>
              <a:rPr lang="en-US" sz="1350" dirty="0">
                <a:solidFill>
                  <a:srgbClr val="3A3A3A"/>
                </a:solidFill>
                <a:latin typeface="Noto Serif Medium" pitchFamily="34" charset="0"/>
                <a:ea typeface="Noto Serif Medium" pitchFamily="34" charset="-122"/>
                <a:cs typeface="Noto Serif Medium" pitchFamily="34" charset="-120"/>
              </a:rPr>
              <a:t>Deployment Environments</a:t>
            </a:r>
            <a:endParaRPr lang="en-US" sz="1350" dirty="0"/>
          </a:p>
        </p:txBody>
      </p:sp>
      <p:sp>
        <p:nvSpPr>
          <p:cNvPr id="6" name="Text 4"/>
          <p:cNvSpPr/>
          <p:nvPr/>
        </p:nvSpPr>
        <p:spPr>
          <a:xfrm>
            <a:off x="4749701" y="2347689"/>
            <a:ext cx="3902943" cy="1332309"/>
          </a:xfrm>
          <a:prstGeom prst="rect">
            <a:avLst/>
          </a:prstGeom>
          <a:noFill/>
          <a:ln/>
        </p:spPr>
        <p:txBody>
          <a:bodyPr wrap="square" lIns="0" tIns="0" rIns="0" bIns="0" rtlCol="0" anchor="t">
            <a:normAutofit/>
          </a:bodyPr>
          <a:lstStyle/>
          <a:p>
            <a:pPr algn="l" marL="223520" indent="-223520">
              <a:lnSpc>
                <a:spcPct val="133000"/>
              </a:lnSpc>
              <a:buSzPct val="100000"/>
              <a:buChar char="•"/>
            </a:pPr>
            <a:r>
              <a:rPr lang="en-US" sz="1100" dirty="0">
                <a:solidFill>
                  <a:srgbClr val="4C4C4C"/>
                </a:solidFill>
                <a:latin typeface="Noto Serif" pitchFamily="34" charset="0"/>
                <a:ea typeface="Noto Serif" pitchFamily="34" charset="-122"/>
                <a:cs typeface="Noto Serif" pitchFamily="34" charset="-120"/>
              </a:rPr>
              <a:t>Emergency departments and trauma centres</a:t>
            </a:r>
            <a:endParaRPr lang="en-US" sz="1100" dirty="0"/>
          </a:p>
          <a:p>
            <a:pPr algn="l" marL="223520" indent="-223520">
              <a:lnSpc>
                <a:spcPct val="133000"/>
              </a:lnSpc>
              <a:buSzPct val="100000"/>
              <a:buChar char="•"/>
            </a:pPr>
            <a:r>
              <a:rPr lang="en-US" sz="1100" dirty="0">
                <a:solidFill>
                  <a:srgbClr val="4C4C4C"/>
                </a:solidFill>
                <a:latin typeface="Noto Serif" pitchFamily="34" charset="0"/>
                <a:ea typeface="Noto Serif" pitchFamily="34" charset="-122"/>
                <a:cs typeface="Noto Serif" pitchFamily="34" charset="-120"/>
              </a:rPr>
              <a:t>Primary healthcare centres and specialty clinics</a:t>
            </a:r>
            <a:endParaRPr lang="en-US" sz="1100" dirty="0"/>
          </a:p>
          <a:p>
            <a:pPr algn="l" marL="223520" indent="-223520">
              <a:lnSpc>
                <a:spcPct val="133000"/>
              </a:lnSpc>
              <a:buSzPct val="100000"/>
              <a:buChar char="•"/>
            </a:pPr>
            <a:r>
              <a:rPr lang="en-US" sz="1100" dirty="0">
                <a:solidFill>
                  <a:srgbClr val="4C4C4C"/>
                </a:solidFill>
                <a:latin typeface="Noto Serif" pitchFamily="34" charset="0"/>
                <a:ea typeface="Noto Serif" pitchFamily="34" charset="-122"/>
                <a:cs typeface="Noto Serif" pitchFamily="34" charset="-120"/>
              </a:rPr>
              <a:t>Telemedicine platforms and remote monitoring</a:t>
            </a:r>
            <a:endParaRPr lang="en-US" sz="1100" dirty="0"/>
          </a:p>
          <a:p>
            <a:pPr algn="l" marL="223520" indent="-223520">
              <a:lnSpc>
                <a:spcPct val="133000"/>
              </a:lnSpc>
              <a:buSzPct val="100000"/>
              <a:buChar char="•"/>
            </a:pPr>
            <a:r>
              <a:rPr lang="en-US" sz="1100" dirty="0">
                <a:solidFill>
                  <a:srgbClr val="4C4C4C"/>
                </a:solidFill>
                <a:latin typeface="Noto Serif" pitchFamily="34" charset="0"/>
                <a:ea typeface="Noto Serif" pitchFamily="34" charset="-122"/>
                <a:cs typeface="Noto Serif" pitchFamily="34" charset="-120"/>
              </a:rPr>
              <a:t>Ambulance services and pre-hospital triage</a:t>
            </a:r>
            <a:endParaRPr lang="en-US" sz="1100" dirty="0"/>
          </a:p>
          <a:p>
            <a:pPr algn="l" marL="223520" indent="-223520">
              <a:lnSpc>
                <a:spcPct val="133000"/>
              </a:lnSpc>
              <a:buSzPct val="100000"/>
              <a:buChar char="•"/>
            </a:pPr>
            <a:r>
              <a:rPr lang="en-US" sz="1100" dirty="0">
                <a:solidFill>
                  <a:srgbClr val="4C4C4C"/>
                </a:solidFill>
                <a:latin typeface="Noto Serif" pitchFamily="34" charset="0"/>
                <a:ea typeface="Noto Serif" pitchFamily="34" charset="-122"/>
                <a:cs typeface="Noto Serif" pitchFamily="34" charset="-120"/>
              </a:rPr>
              <a:t>Public health systems and smart hospital ecosystems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404440"/>
            <a:ext cx="4722763" cy="761405"/>
          </a:xfrm>
          <a:prstGeom prst="rect">
            <a:avLst/>
          </a:prstGeom>
          <a:noFill/>
          <a:ln/>
        </p:spPr>
        <p:txBody>
          <a:bodyPr wrap="square" lIns="0" tIns="0" rIns="0" bIns="0" rtlCol="0" anchor="t">
            <a:normAutofit/>
          </a:bodyPr>
          <a:lstStyle/>
          <a:p>
            <a:pPr algn="l" indent="0" marL="0">
              <a:lnSpc>
                <a:spcPct val="104000"/>
              </a:lnSpc>
              <a:buNone/>
            </a:pPr>
            <a:r>
              <a:rPr lang="en-US" sz="2350" dirty="0">
                <a:solidFill>
                  <a:srgbClr val="3A3A3A"/>
                </a:solidFill>
                <a:latin typeface="Noto Serif Medium" pitchFamily="34" charset="0"/>
                <a:ea typeface="Noto Serif Medium" pitchFamily="34" charset="-122"/>
                <a:cs typeface="Noto Serif Medium" pitchFamily="34" charset="-120"/>
              </a:rPr>
              <a:t>Challenges, Future Roadmap &amp; Conclusion</a:t>
            </a:r>
            <a:endParaRPr lang="en-US" sz="235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6119" y="1322859"/>
            <a:ext cx="4722763" cy="1068958"/>
          </a:xfrm>
          <a:prstGeom prst="rect">
            <a:avLst/>
          </a:prstGeom>
        </p:spPr>
      </p:pic>
      <p:sp>
        <p:nvSpPr>
          <p:cNvPr id="5" name="Text 1"/>
          <p:cNvSpPr/>
          <p:nvPr/>
        </p:nvSpPr>
        <p:spPr>
          <a:xfrm>
            <a:off x="689372" y="1458962"/>
            <a:ext cx="4393406" cy="190351"/>
          </a:xfrm>
          <a:prstGeom prst="rect">
            <a:avLst/>
          </a:prstGeom>
          <a:noFill/>
          <a:ln/>
        </p:spPr>
        <p:txBody>
          <a:bodyPr wrap="none" lIns="0" tIns="0" rIns="0" bIns="0" rtlCol="0" anchor="t"/>
          <a:lstStyle/>
          <a:p>
            <a:pPr algn="l" indent="0" marL="0">
              <a:lnSpc>
                <a:spcPct val="104000"/>
              </a:lnSpc>
              <a:buNone/>
            </a:pPr>
            <a:r>
              <a:rPr lang="en-US" sz="1150" dirty="0">
                <a:solidFill>
                  <a:srgbClr val="4C4C4C"/>
                </a:solidFill>
                <a:latin typeface="Noto Serif Medium" pitchFamily="34" charset="0"/>
                <a:ea typeface="Noto Serif Medium" pitchFamily="34" charset="-122"/>
                <a:cs typeface="Noto Serif Medium" pitchFamily="34" charset="-120"/>
              </a:rPr>
              <a:t>Implementation Challenges</a:t>
            </a:r>
            <a:endParaRPr lang="en-US" sz="1150" dirty="0"/>
          </a:p>
        </p:txBody>
      </p:sp>
      <p:sp>
        <p:nvSpPr>
          <p:cNvPr id="6" name="Text 2"/>
          <p:cNvSpPr/>
          <p:nvPr/>
        </p:nvSpPr>
        <p:spPr>
          <a:xfrm>
            <a:off x="689372" y="1712119"/>
            <a:ext cx="4393406" cy="543595"/>
          </a:xfrm>
          <a:prstGeom prst="rect">
            <a:avLst/>
          </a:prstGeom>
          <a:noFill/>
          <a:ln/>
        </p:spPr>
        <p:txBody>
          <a:bodyPr wrap="square" lIns="0" tIns="0" rIns="0" bIns="0" rtlCol="0" anchor="t">
            <a:normAutofit/>
          </a:bodyPr>
          <a:lstStyle/>
          <a:p>
            <a:pPr algn="l" indent="0" marL="0">
              <a:lnSpc>
                <a:spcPct val="124000"/>
              </a:lnSpc>
              <a:buNone/>
            </a:pPr>
            <a:r>
              <a:rPr lang="en-US" sz="950" dirty="0">
                <a:solidFill>
                  <a:srgbClr val="4C4C4C"/>
                </a:solidFill>
                <a:latin typeface="Noto Serif" pitchFamily="34" charset="0"/>
                <a:ea typeface="Noto Serif" pitchFamily="34" charset="-122"/>
                <a:cs typeface="Noto Serif" pitchFamily="34" charset="-120"/>
              </a:rPr>
              <a:t>Patient privacy (HIPAA/GDPR), incomplete records, heterogeneous data integration, AI fairness, and regulatory compliance require careful governance and continuous monitoring.</a:t>
            </a:r>
            <a:endParaRPr lang="en-US" sz="95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6119" y="2496443"/>
            <a:ext cx="4722763" cy="1068958"/>
          </a:xfrm>
          <a:prstGeom prst="rect">
            <a:avLst/>
          </a:prstGeom>
        </p:spPr>
      </p:pic>
      <p:sp>
        <p:nvSpPr>
          <p:cNvPr id="8" name="Text 3"/>
          <p:cNvSpPr/>
          <p:nvPr/>
        </p:nvSpPr>
        <p:spPr>
          <a:xfrm>
            <a:off x="689372" y="2632546"/>
            <a:ext cx="4393406" cy="190351"/>
          </a:xfrm>
          <a:prstGeom prst="rect">
            <a:avLst/>
          </a:prstGeom>
          <a:noFill/>
          <a:ln/>
        </p:spPr>
        <p:txBody>
          <a:bodyPr wrap="none" lIns="0" tIns="0" rIns="0" bIns="0" rtlCol="0" anchor="t"/>
          <a:lstStyle/>
          <a:p>
            <a:pPr algn="l" indent="0" marL="0">
              <a:lnSpc>
                <a:spcPct val="104000"/>
              </a:lnSpc>
              <a:buNone/>
            </a:pPr>
            <a:r>
              <a:rPr lang="en-US" sz="1150" dirty="0">
                <a:solidFill>
                  <a:srgbClr val="4C4C4C"/>
                </a:solidFill>
                <a:latin typeface="Noto Serif Medium" pitchFamily="34" charset="0"/>
                <a:ea typeface="Noto Serif Medium" pitchFamily="34" charset="-122"/>
                <a:cs typeface="Noto Serif Medium" pitchFamily="34" charset="-120"/>
              </a:rPr>
              <a:t>Future Enhancements</a:t>
            </a:r>
            <a:endParaRPr lang="en-US" sz="1150" dirty="0"/>
          </a:p>
        </p:txBody>
      </p:sp>
      <p:sp>
        <p:nvSpPr>
          <p:cNvPr id="9" name="Text 4"/>
          <p:cNvSpPr/>
          <p:nvPr/>
        </p:nvSpPr>
        <p:spPr>
          <a:xfrm>
            <a:off x="689372" y="2885703"/>
            <a:ext cx="4393406" cy="543595"/>
          </a:xfrm>
          <a:prstGeom prst="rect">
            <a:avLst/>
          </a:prstGeom>
          <a:noFill/>
          <a:ln/>
        </p:spPr>
        <p:txBody>
          <a:bodyPr wrap="square" lIns="0" tIns="0" rIns="0" bIns="0" rtlCol="0" anchor="t">
            <a:normAutofit/>
          </a:bodyPr>
          <a:lstStyle/>
          <a:p>
            <a:pPr algn="l" indent="0" marL="0">
              <a:lnSpc>
                <a:spcPct val="124000"/>
              </a:lnSpc>
              <a:buNone/>
            </a:pPr>
            <a:r>
              <a:rPr lang="en-US" sz="950" dirty="0">
                <a:solidFill>
                  <a:srgbClr val="4C4C4C"/>
                </a:solidFill>
                <a:latin typeface="Noto Serif" pitchFamily="34" charset="0"/>
                <a:ea typeface="Noto Serif" pitchFamily="34" charset="-122"/>
                <a:cs typeface="Noto Serif" pitchFamily="34" charset="-120"/>
              </a:rPr>
              <a:t>Explainable AI (XAI), EHR integration, wearable device connectivity, real-time monitoring, deep learning models, mobile applications, and multimodal medical data analysis.</a:t>
            </a:r>
            <a:endParaRPr lang="en-US" sz="95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96119" y="3670027"/>
            <a:ext cx="4722763" cy="1068958"/>
          </a:xfrm>
          <a:prstGeom prst="rect">
            <a:avLst/>
          </a:prstGeom>
        </p:spPr>
      </p:pic>
      <p:sp>
        <p:nvSpPr>
          <p:cNvPr id="11" name="Text 5"/>
          <p:cNvSpPr/>
          <p:nvPr/>
        </p:nvSpPr>
        <p:spPr>
          <a:xfrm>
            <a:off x="689372" y="3806130"/>
            <a:ext cx="4393406" cy="190351"/>
          </a:xfrm>
          <a:prstGeom prst="rect">
            <a:avLst/>
          </a:prstGeom>
          <a:noFill/>
          <a:ln/>
        </p:spPr>
        <p:txBody>
          <a:bodyPr wrap="none" lIns="0" tIns="0" rIns="0" bIns="0" rtlCol="0" anchor="t"/>
          <a:lstStyle/>
          <a:p>
            <a:pPr algn="l" indent="0" marL="0">
              <a:lnSpc>
                <a:spcPct val="104000"/>
              </a:lnSpc>
              <a:buNone/>
            </a:pPr>
            <a:r>
              <a:rPr lang="en-US" sz="1150" dirty="0">
                <a:solidFill>
                  <a:srgbClr val="4C4C4C"/>
                </a:solidFill>
                <a:latin typeface="Noto Serif Medium" pitchFamily="34" charset="0"/>
                <a:ea typeface="Noto Serif Medium" pitchFamily="34" charset="-122"/>
                <a:cs typeface="Noto Serif Medium" pitchFamily="34" charset="-120"/>
              </a:rPr>
              <a:t>Conclusion</a:t>
            </a:r>
            <a:endParaRPr lang="en-US" sz="1150" dirty="0"/>
          </a:p>
        </p:txBody>
      </p:sp>
      <p:sp>
        <p:nvSpPr>
          <p:cNvPr id="12" name="Text 6"/>
          <p:cNvSpPr/>
          <p:nvPr/>
        </p:nvSpPr>
        <p:spPr>
          <a:xfrm>
            <a:off x="689372" y="4059287"/>
            <a:ext cx="4393406" cy="543595"/>
          </a:xfrm>
          <a:prstGeom prst="rect">
            <a:avLst/>
          </a:prstGeom>
          <a:noFill/>
          <a:ln/>
        </p:spPr>
        <p:txBody>
          <a:bodyPr wrap="square" lIns="0" tIns="0" rIns="0" bIns="0" rtlCol="0" anchor="t">
            <a:normAutofit/>
          </a:bodyPr>
          <a:lstStyle/>
          <a:p>
            <a:pPr algn="l" indent="0" marL="0">
              <a:lnSpc>
                <a:spcPct val="124000"/>
              </a:lnSpc>
              <a:buNone/>
            </a:pPr>
            <a:r>
              <a:rPr lang="en-US" sz="950" dirty="0">
                <a:solidFill>
                  <a:srgbClr val="4C4C4C"/>
                </a:solidFill>
                <a:latin typeface="Noto Serif" pitchFamily="34" charset="0"/>
                <a:ea typeface="Noto Serif" pitchFamily="34" charset="-122"/>
                <a:cs typeface="Noto Serif" pitchFamily="34" charset="-120"/>
              </a:rPr>
              <a:t>This system leverages machine learning and clinical data to accurately predict admission needs, optimise resources, support timely intervention, and enable data-driven decisions for modern healthcare.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2026-07-28T05:34:29Z</dcterms:created>
  <dcterms:modified xsi:type="dcterms:W3CDTF">2026-07-28T05:34:29Z</dcterms:modified>
</cp:coreProperties>
</file>